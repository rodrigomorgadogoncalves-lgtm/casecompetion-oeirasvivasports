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8" r:id="rId10"/>
    <p:sldId id="269" r:id="rId11"/>
    <p:sldId id="270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64A"/>
            </a:gs>
            <a:gs pos="100000">
              <a:srgbClr val="003B6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00A651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371600" y="3657600"/>
            <a:ext cx="4572000" cy="4572000"/>
          </a:xfrm>
          <a:prstGeom prst="ellipse">
            <a:avLst/>
          </a:prstGeom>
          <a:solidFill>
            <a:srgbClr val="0060A9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4DC88B"/>
                </a:solidFill>
                <a:latin typeface="Calibri"/>
              </a:defRPr>
            </a:pPr>
            <a:r>
              <a:rPr dirty="0"/>
              <a:t>MUNIC</a:t>
            </a:r>
            <a:r>
              <a:rPr lang="pt-PT" dirty="0"/>
              <a:t>í</a:t>
            </a:r>
            <a:r>
              <a:rPr dirty="0"/>
              <a:t>PIO DE OEIRAS  |  OEIRAS VIVA, E.M.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920240"/>
            <a:ext cx="1554480" cy="381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Oeiras Viva Desporto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Estrat</a:t>
            </a:r>
            <a:r>
              <a:rPr lang="pt-PT" dirty="0"/>
              <a:t>é</a:t>
            </a:r>
            <a:r>
              <a:rPr dirty="0" err="1"/>
              <a:t>gia</a:t>
            </a:r>
            <a:r>
              <a:rPr dirty="0"/>
              <a:t> </a:t>
            </a:r>
            <a:r>
              <a:rPr dirty="0" err="1"/>
              <a:t>Omnicanal</a:t>
            </a:r>
            <a:r>
              <a:rPr dirty="0"/>
              <a:t> </a:t>
            </a:r>
            <a:r>
              <a:rPr dirty="0" err="1"/>
              <a:t>para</a:t>
            </a:r>
            <a:r>
              <a:rPr dirty="0"/>
              <a:t> a Promo</a:t>
            </a:r>
            <a:r>
              <a:rPr lang="pt-PT" dirty="0" err="1"/>
              <a:t>çã</a:t>
            </a:r>
            <a:r>
              <a:rPr dirty="0"/>
              <a:t>o</a:t>
            </a:r>
            <a:br>
              <a:rPr dirty="0"/>
            </a:br>
            <a:r>
              <a:rPr dirty="0"/>
              <a:t>da </a:t>
            </a:r>
            <a:r>
              <a:rPr dirty="0" err="1"/>
              <a:t>Atividade</a:t>
            </a:r>
            <a:r>
              <a:rPr dirty="0"/>
              <a:t> F</a:t>
            </a:r>
            <a:r>
              <a:rPr lang="pt-PT" dirty="0"/>
              <a:t>í</a:t>
            </a:r>
            <a:r>
              <a:rPr dirty="0" err="1"/>
              <a:t>sica</a:t>
            </a:r>
            <a:r>
              <a:rPr dirty="0"/>
              <a:t> no </a:t>
            </a:r>
            <a:r>
              <a:rPr dirty="0" err="1"/>
              <a:t>Concelho</a:t>
            </a:r>
            <a:r>
              <a:rPr dirty="0"/>
              <a:t> de </a:t>
            </a:r>
            <a:r>
              <a:rPr dirty="0" err="1"/>
              <a:t>Oeiras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5303520" y="3931920"/>
            <a:ext cx="1554480" cy="381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67788"/>
                </a:solidFill>
                <a:latin typeface="Calibri"/>
              </a:defRPr>
            </a:pPr>
            <a:r>
              <a:t>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5000"/>
            </a:avLst>
          </a:prstGeom>
          <a:solidFill>
            <a:srgbClr val="00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4DC88B"/>
                </a:solidFill>
                <a:latin typeface="Calibri"/>
              </a:defRPr>
            </a:pPr>
            <a:r>
              <a:t>Oeiras Viva Desporto  |  Abril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05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A651"/>
                </a:solidFill>
                <a:latin typeface="Calibri"/>
              </a:defRPr>
            </a:pPr>
            <a:r>
              <a:rPr dirty="0"/>
              <a:t>MILESTONE 1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B6F"/>
                </a:solidFill>
                <a:latin typeface="Calibri"/>
              </a:defRPr>
            </a:pPr>
            <a:r>
              <a:t>Contexto: Ecossistema Desportivo de Oeiras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58595B"/>
                </a:solidFill>
                <a:latin typeface="Calibri"/>
              </a:defRPr>
            </a:pPr>
            <a:r>
              <a:t>Um concelho ativo, mas com desafios emergentes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74240"/>
            <a:ext cx="24688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83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00A651"/>
                </a:solidFill>
                <a:latin typeface="Calibri"/>
              </a:defRPr>
            </a:pPr>
            <a:r>
              <a:t>72,1%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t>Oeirenses ativos</a:t>
            </a:r>
            <a:br/>
            <a:r>
              <a:t>(vs. 57,4% nacional)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74240"/>
            <a:ext cx="24688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2283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58220"/>
                </a:solidFill>
                <a:latin typeface="Calibri"/>
              </a:defRPr>
            </a:pPr>
            <a:r>
              <a:t>38%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72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t>Sedentarismo 2024</a:t>
            </a:r>
            <a:br/>
            <a:r>
              <a:t>(vs. 10% nacional)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174240"/>
            <a:ext cx="24688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2283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003B6F"/>
                </a:solidFill>
                <a:latin typeface="Calibri"/>
              </a:defRPr>
            </a:pPr>
            <a:r>
              <a:t>770 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722880"/>
            <a:ext cx="2377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lang="pt-PT" dirty="0" err="1"/>
              <a:t>Ár</a:t>
            </a:r>
            <a:r>
              <a:rPr dirty="0" err="1"/>
              <a:t>eas</a:t>
            </a:r>
            <a:r>
              <a:rPr dirty="0"/>
              <a:t> </a:t>
            </a:r>
            <a:r>
              <a:rPr dirty="0" err="1"/>
              <a:t>verdes</a:t>
            </a:r>
            <a:br>
              <a:rPr dirty="0"/>
            </a:br>
            <a:r>
              <a:rPr dirty="0"/>
              <a:t>43 m2 / </a:t>
            </a:r>
            <a:r>
              <a:rPr dirty="0" err="1"/>
              <a:t>habitante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686800" y="2174240"/>
            <a:ext cx="24688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0" y="2283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00A651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22880"/>
            <a:ext cx="2377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 err="1"/>
              <a:t>Crescimento</a:t>
            </a:r>
            <a:r>
              <a:rPr dirty="0"/>
              <a:t> </a:t>
            </a:r>
            <a:r>
              <a:rPr dirty="0" err="1"/>
              <a:t>cont</a:t>
            </a:r>
            <a:r>
              <a:rPr lang="pt-PT" dirty="0"/>
              <a:t>í</a:t>
            </a:r>
            <a:r>
              <a:rPr dirty="0" err="1"/>
              <a:t>nuo</a:t>
            </a:r>
            <a:br>
              <a:rPr dirty="0"/>
            </a:br>
            <a:r>
              <a:rPr dirty="0" err="1"/>
              <a:t>utiliza</a:t>
            </a:r>
            <a:r>
              <a:rPr lang="pt-PT" dirty="0" err="1"/>
              <a:t>çõ</a:t>
            </a:r>
            <a:r>
              <a:rPr dirty="0" err="1"/>
              <a:t>es</a:t>
            </a:r>
            <a:r>
              <a:rPr dirty="0"/>
              <a:t> &amp; </a:t>
            </a:r>
            <a:r>
              <a:rPr dirty="0" err="1"/>
              <a:t>redes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731520" y="3810000"/>
            <a:ext cx="10515600" cy="1901952"/>
          </a:xfrm>
          <a:prstGeom prst="roundRect">
            <a:avLst>
              <a:gd name="adj" fmla="val 5000"/>
            </a:avLst>
          </a:prstGeom>
          <a:solidFill>
            <a:srgbClr val="EEF5EE"/>
          </a:solidFill>
          <a:ln w="12700">
            <a:solidFill>
              <a:srgbClr val="00A6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038600"/>
            <a:ext cx="10058400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Ecossistema</a:t>
            </a:r>
            <a:r>
              <a:rPr dirty="0"/>
              <a:t>: </a:t>
            </a:r>
            <a:r>
              <a:rPr dirty="0" err="1"/>
              <a:t>Divis</a:t>
            </a:r>
            <a:r>
              <a:rPr lang="pt-PT" dirty="0"/>
              <a:t>ã</a:t>
            </a:r>
            <a:r>
              <a:rPr dirty="0"/>
              <a:t>o de </a:t>
            </a:r>
            <a:r>
              <a:rPr dirty="0" err="1"/>
              <a:t>Desporto</a:t>
            </a:r>
            <a:r>
              <a:rPr dirty="0"/>
              <a:t> (CMO) + Oeiras Viva + </a:t>
            </a:r>
            <a:r>
              <a:rPr dirty="0" err="1"/>
              <a:t>clubes</a:t>
            </a:r>
            <a:r>
              <a:rPr lang="pt-PT" dirty="0"/>
              <a:t> e associações</a:t>
            </a:r>
            <a:endParaRPr dirty="0"/>
          </a:p>
          <a:p>
            <a:pPr algn="l">
              <a:spcAft>
                <a:spcPts val="6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 err="1"/>
              <a:t>Programas</a:t>
            </a:r>
            <a:r>
              <a:rPr dirty="0"/>
              <a:t>: </a:t>
            </a:r>
            <a:r>
              <a:rPr dirty="0" err="1"/>
              <a:t>Jogos</a:t>
            </a:r>
            <a:r>
              <a:rPr dirty="0"/>
              <a:t> Oeiras, </a:t>
            </a:r>
            <a:r>
              <a:rPr dirty="0" err="1"/>
              <a:t>Passaporte</a:t>
            </a:r>
            <a:r>
              <a:rPr lang="pt-PT" dirty="0"/>
              <a:t> </a:t>
            </a:r>
            <a:r>
              <a:rPr dirty="0"/>
              <a:t>+</a:t>
            </a:r>
            <a:r>
              <a:rPr dirty="0" err="1"/>
              <a:t>Desportivo</a:t>
            </a:r>
            <a:r>
              <a:rPr dirty="0"/>
              <a:t>, </a:t>
            </a:r>
            <a:r>
              <a:rPr dirty="0" err="1"/>
              <a:t>Mexa</a:t>
            </a:r>
            <a:r>
              <a:rPr dirty="0"/>
              <a:t>-se Mais, </a:t>
            </a:r>
            <a:r>
              <a:rPr dirty="0" err="1"/>
              <a:t>Desafio</a:t>
            </a:r>
            <a:r>
              <a:rPr dirty="0"/>
              <a:t> 10.000 Passos</a:t>
            </a:r>
          </a:p>
          <a:p>
            <a:pPr algn="l">
              <a:spcAft>
                <a:spcPts val="400"/>
              </a:spcAft>
              <a:defRPr sz="1500" b="1" i="0">
                <a:solidFill>
                  <a:srgbClr val="F58220"/>
                </a:solidFill>
                <a:latin typeface="Calibri"/>
              </a:defRPr>
            </a:pPr>
            <a:r>
              <a:rPr dirty="0" err="1"/>
              <a:t>Desafio</a:t>
            </a:r>
            <a:r>
              <a:rPr dirty="0"/>
              <a:t>: </a:t>
            </a:r>
            <a:r>
              <a:rPr dirty="0" err="1"/>
              <a:t>sedentarismo</a:t>
            </a:r>
            <a:r>
              <a:rPr dirty="0"/>
              <a:t> </a:t>
            </a:r>
            <a:r>
              <a:rPr dirty="0" err="1"/>
              <a:t>duplicou</a:t>
            </a:r>
            <a:r>
              <a:rPr dirty="0"/>
              <a:t> (2020-2024), </a:t>
            </a:r>
            <a:r>
              <a:rPr dirty="0" err="1"/>
              <a:t>afeta</a:t>
            </a:r>
            <a:r>
              <a:rPr dirty="0"/>
              <a:t> </a:t>
            </a:r>
            <a:r>
              <a:rPr dirty="0" err="1"/>
              <a:t>grupos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vulner</a:t>
            </a:r>
            <a:r>
              <a:rPr lang="pt-PT" dirty="0"/>
              <a:t>á</a:t>
            </a:r>
            <a:r>
              <a:rPr dirty="0" err="1"/>
              <a:t>veis</a:t>
            </a:r>
            <a:endParaRPr dirty="0"/>
          </a:p>
          <a:p>
            <a:pPr algn="l">
              <a:spcAft>
                <a:spcPts val="6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 err="1"/>
              <a:t>Barreiras</a:t>
            </a:r>
            <a:r>
              <a:rPr dirty="0"/>
              <a:t>: </a:t>
            </a:r>
            <a:r>
              <a:rPr dirty="0" err="1"/>
              <a:t>falta</a:t>
            </a:r>
            <a:r>
              <a:rPr dirty="0"/>
              <a:t> de tempo e de </a:t>
            </a:r>
            <a:r>
              <a:rPr dirty="0" err="1"/>
              <a:t>motiva</a:t>
            </a:r>
            <a:r>
              <a:rPr lang="pt-PT" dirty="0" err="1"/>
              <a:t>çã</a:t>
            </a:r>
            <a:r>
              <a:rPr dirty="0"/>
              <a:t>o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 err="1"/>
              <a:t>Oportunidade</a:t>
            </a:r>
            <a:r>
              <a:rPr dirty="0"/>
              <a:t>: forte base territorial (770 ha </a:t>
            </a:r>
            <a:r>
              <a:rPr dirty="0" err="1"/>
              <a:t>verdes</a:t>
            </a:r>
            <a:r>
              <a:rPr dirty="0"/>
              <a:t>) + </a:t>
            </a:r>
            <a:r>
              <a:rPr dirty="0" err="1"/>
              <a:t>crescimento</a:t>
            </a:r>
            <a:r>
              <a:rPr dirty="0"/>
              <a:t> de </a:t>
            </a:r>
            <a:r>
              <a:rPr dirty="0" err="1"/>
              <a:t>utiliza</a:t>
            </a:r>
            <a:r>
              <a:rPr lang="pt-PT" dirty="0" err="1"/>
              <a:t>çõ</a:t>
            </a:r>
            <a:r>
              <a:rPr dirty="0" err="1"/>
              <a:t>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5000"/>
            </a:avLst>
          </a:prstGeom>
          <a:solidFill>
            <a:srgbClr val="00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4DC88B"/>
                </a:solidFill>
                <a:latin typeface="Calibri"/>
              </a:defRPr>
            </a:pPr>
            <a:r>
              <a:t>Oeiras Viva Desporto  |  Abril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A651"/>
                </a:solidFill>
                <a:latin typeface="Calibri"/>
              </a:defRPr>
            </a:pPr>
            <a:r>
              <a:t>MILESTONE 1  | 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B6F"/>
                </a:solidFill>
                <a:latin typeface="Calibri"/>
              </a:defRPr>
            </a:pPr>
            <a:r>
              <a:t>Benchmark Nacional e Internacional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6 </a:t>
            </a:r>
            <a:r>
              <a:rPr dirty="0" err="1"/>
              <a:t>pilares</a:t>
            </a:r>
            <a:r>
              <a:rPr dirty="0"/>
              <a:t> </a:t>
            </a:r>
            <a:r>
              <a:rPr dirty="0" err="1"/>
              <a:t>estrat</a:t>
            </a:r>
            <a:r>
              <a:rPr lang="pt-PT" dirty="0"/>
              <a:t>é</a:t>
            </a:r>
            <a:r>
              <a:rPr dirty="0" err="1"/>
              <a:t>gicos</a:t>
            </a:r>
            <a:r>
              <a:rPr dirty="0"/>
              <a:t> extra</a:t>
            </a:r>
            <a:r>
              <a:rPr lang="pt-PT" dirty="0"/>
              <a:t>í</a:t>
            </a:r>
            <a:r>
              <a:rPr dirty="0"/>
              <a:t>dos das </a:t>
            </a:r>
            <a:r>
              <a:rPr dirty="0" err="1"/>
              <a:t>melhores</a:t>
            </a:r>
            <a:r>
              <a:rPr dirty="0"/>
              <a:t> </a:t>
            </a:r>
            <a:r>
              <a:rPr dirty="0" err="1"/>
              <a:t>pr</a:t>
            </a:r>
            <a:r>
              <a:rPr lang="pt-PT" dirty="0"/>
              <a:t>á</a:t>
            </a:r>
            <a:r>
              <a:rPr dirty="0" err="1"/>
              <a:t>ticas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Refer</a:t>
            </a:r>
            <a:r>
              <a:rPr lang="pt-PT" dirty="0"/>
              <a:t>ê</a:t>
            </a:r>
            <a:r>
              <a:rPr dirty="0" err="1"/>
              <a:t>ncias</a:t>
            </a:r>
            <a:r>
              <a:rPr dirty="0"/>
              <a:t> </a:t>
            </a:r>
            <a:r>
              <a:rPr dirty="0" err="1"/>
              <a:t>Nacionais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t>Matosinhos 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146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+1000 </a:t>
            </a:r>
            <a:r>
              <a:rPr dirty="0" err="1"/>
              <a:t>eventos</a:t>
            </a:r>
            <a:r>
              <a:rPr dirty="0"/>
              <a:t>, </a:t>
            </a:r>
            <a:r>
              <a:rPr dirty="0" err="1"/>
              <a:t>empresa</a:t>
            </a:r>
            <a:r>
              <a:rPr dirty="0"/>
              <a:t> municipal, forte </a:t>
            </a:r>
            <a:r>
              <a:rPr dirty="0" err="1"/>
              <a:t>presen</a:t>
            </a:r>
            <a:r>
              <a:rPr lang="pt-PT" dirty="0"/>
              <a:t>ç</a:t>
            </a:r>
            <a:r>
              <a:rPr dirty="0"/>
              <a:t>a digital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7180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2953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t>Maia Desporto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t>App omnicanal: campos, mensalidades, aulas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639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t>Viseu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t>Desporto para Todos, FADU Portugal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4340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t>Cascais City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5720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 err="1"/>
              <a:t>IoT</a:t>
            </a:r>
            <a:r>
              <a:rPr dirty="0"/>
              <a:t> + </a:t>
            </a:r>
            <a:r>
              <a:rPr dirty="0" err="1"/>
              <a:t>geolocaliza</a:t>
            </a:r>
            <a:r>
              <a:rPr lang="pt-PT" dirty="0" err="1"/>
              <a:t>çã</a:t>
            </a:r>
            <a:r>
              <a:rPr dirty="0"/>
              <a:t>o, </a:t>
            </a:r>
            <a:r>
              <a:rPr dirty="0" err="1"/>
              <a:t>pontos</a:t>
            </a:r>
            <a:r>
              <a:rPr dirty="0"/>
              <a:t> </a:t>
            </a:r>
            <a:r>
              <a:rPr dirty="0" err="1"/>
              <a:t>autom</a:t>
            </a:r>
            <a:r>
              <a:rPr lang="pt-PT" dirty="0"/>
              <a:t>á</a:t>
            </a:r>
            <a:r>
              <a:rPr dirty="0" err="1"/>
              <a:t>ticos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217920" y="1828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B6F"/>
                </a:solidFill>
                <a:latin typeface="Calibri"/>
              </a:defRPr>
            </a:pPr>
            <a:r>
              <a:t>6 Pilares (ODS)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286000"/>
            <a:ext cx="347472" cy="320040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36208" y="230428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267712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Plataforma </a:t>
            </a:r>
            <a:r>
              <a:rPr dirty="0" err="1"/>
              <a:t>Unificada</a:t>
            </a:r>
            <a:r>
              <a:rPr lang="pt-PT" dirty="0"/>
              <a:t> – ODS 9 e 11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6675120" y="2514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t>Singapura + Helsinquia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926080"/>
            <a:ext cx="347472" cy="320040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36208" y="294436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907792"/>
            <a:ext cx="3241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Jornada </a:t>
            </a:r>
            <a:r>
              <a:rPr dirty="0" err="1"/>
              <a:t>Omnicanal</a:t>
            </a:r>
            <a:r>
              <a:rPr lang="pt-PT" dirty="0"/>
              <a:t> – ODS 9, 10 e 16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6675120" y="3154680"/>
            <a:ext cx="484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Digital + f</a:t>
            </a:r>
            <a:r>
              <a:rPr lang="pt-PT" dirty="0"/>
              <a:t>í</a:t>
            </a:r>
            <a:r>
              <a:rPr dirty="0" err="1"/>
              <a:t>sico</a:t>
            </a:r>
            <a:r>
              <a:rPr dirty="0"/>
              <a:t> + </a:t>
            </a:r>
            <a:r>
              <a:rPr dirty="0" err="1"/>
              <a:t>humano</a:t>
            </a: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6217920" y="3566160"/>
            <a:ext cx="347472" cy="320040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36208" y="358444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547872"/>
            <a:ext cx="3241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Engagement &amp; </a:t>
            </a:r>
            <a:r>
              <a:rPr dirty="0" err="1"/>
              <a:t>Gamifica</a:t>
            </a:r>
            <a:r>
              <a:rPr lang="pt-PT" dirty="0" err="1"/>
              <a:t>çã</a:t>
            </a:r>
            <a:r>
              <a:rPr dirty="0"/>
              <a:t>o</a:t>
            </a:r>
            <a:r>
              <a:rPr lang="pt-PT" dirty="0"/>
              <a:t> – ODS 3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675120" y="3794760"/>
            <a:ext cx="484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Cr</a:t>
            </a:r>
            <a:r>
              <a:rPr lang="pt-PT" dirty="0" err="1"/>
              <a:t>éd</a:t>
            </a:r>
            <a:r>
              <a:rPr dirty="0" err="1"/>
              <a:t>itos</a:t>
            </a:r>
            <a:r>
              <a:rPr dirty="0"/>
              <a:t>, </a:t>
            </a:r>
            <a:r>
              <a:rPr dirty="0" err="1"/>
              <a:t>incentivos</a:t>
            </a:r>
            <a:r>
              <a:rPr dirty="0"/>
              <a:t> (Paris)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06239"/>
            <a:ext cx="347472" cy="320040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36208" y="4224527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187951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Rede Territorial</a:t>
            </a:r>
            <a:r>
              <a:rPr lang="pt-PT" dirty="0"/>
              <a:t> – ODS 11 e 13</a:t>
            </a: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6675120" y="443483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 err="1"/>
              <a:t>Urbanismo</a:t>
            </a:r>
            <a:r>
              <a:rPr dirty="0"/>
              <a:t> </a:t>
            </a:r>
            <a:r>
              <a:rPr dirty="0" err="1"/>
              <a:t>desportivo</a:t>
            </a:r>
            <a:r>
              <a:rPr dirty="0"/>
              <a:t> (AMS, BCN)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846320"/>
            <a:ext cx="347472" cy="320040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36208" y="486460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828032"/>
            <a:ext cx="3495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Inclus</a:t>
            </a:r>
            <a:r>
              <a:rPr lang="pt-PT" dirty="0"/>
              <a:t>ã</a:t>
            </a:r>
            <a:r>
              <a:rPr dirty="0"/>
              <a:t>o &amp; </a:t>
            </a:r>
            <a:r>
              <a:rPr dirty="0" err="1"/>
              <a:t>Equidade</a:t>
            </a:r>
            <a:r>
              <a:rPr lang="pt-PT" dirty="0"/>
              <a:t> – ODS 3, 10 e 11</a:t>
            </a:r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6675120" y="5074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 err="1"/>
              <a:t>Apoio</a:t>
            </a:r>
            <a:r>
              <a:rPr dirty="0"/>
              <a:t> </a:t>
            </a:r>
            <a:r>
              <a:rPr dirty="0" err="1"/>
              <a:t>humano</a:t>
            </a:r>
            <a:r>
              <a:rPr dirty="0"/>
              <a:t>, </a:t>
            </a:r>
            <a:r>
              <a:rPr dirty="0" err="1"/>
              <a:t>sorteio</a:t>
            </a:r>
            <a:r>
              <a:rPr dirty="0"/>
              <a:t> </a:t>
            </a:r>
            <a:r>
              <a:rPr dirty="0" err="1"/>
              <a:t>pico</a:t>
            </a:r>
            <a:endParaRPr dirty="0"/>
          </a:p>
        </p:txBody>
      </p:sp>
      <p:sp>
        <p:nvSpPr>
          <p:cNvPr id="42" name="Rounded Rectangle 41"/>
          <p:cNvSpPr/>
          <p:nvPr/>
        </p:nvSpPr>
        <p:spPr>
          <a:xfrm>
            <a:off x="6217920" y="5486400"/>
            <a:ext cx="347472" cy="320040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36208" y="550468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5468112"/>
            <a:ext cx="3322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Governan</a:t>
            </a:r>
            <a:r>
              <a:rPr lang="pt-PT" dirty="0"/>
              <a:t>ç</a:t>
            </a:r>
            <a:r>
              <a:rPr dirty="0"/>
              <a:t>a &amp; </a:t>
            </a:r>
            <a:r>
              <a:rPr dirty="0" err="1"/>
              <a:t>Cocria</a:t>
            </a:r>
            <a:r>
              <a:rPr lang="pt-PT" dirty="0" err="1"/>
              <a:t>çã</a:t>
            </a:r>
            <a:r>
              <a:rPr dirty="0"/>
              <a:t>o</a:t>
            </a:r>
            <a:r>
              <a:rPr lang="pt-PT" dirty="0"/>
              <a:t> – ODS 16 e 17</a:t>
            </a:r>
            <a:endParaRPr dirty="0"/>
          </a:p>
        </p:txBody>
      </p:sp>
      <p:sp>
        <p:nvSpPr>
          <p:cNvPr id="45" name="TextBox 44"/>
          <p:cNvSpPr txBox="1"/>
          <p:nvPr/>
        </p:nvSpPr>
        <p:spPr>
          <a:xfrm>
            <a:off x="6675120" y="5715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Beta testers, Place Partnerships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5000"/>
            </a:avLst>
          </a:prstGeom>
          <a:solidFill>
            <a:srgbClr val="00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4DC88B"/>
                </a:solidFill>
                <a:latin typeface="Calibri"/>
              </a:defRPr>
            </a:pPr>
            <a:r>
              <a:t>Oeiras Viva Desporto  |  Abril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05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A651"/>
                </a:solidFill>
                <a:latin typeface="Calibri"/>
              </a:defRPr>
            </a:pPr>
            <a:r>
              <a:rPr dirty="0"/>
              <a:t>DEMONSTRA</a:t>
            </a:r>
            <a:r>
              <a:rPr lang="pt-PT" dirty="0"/>
              <a:t>ÇÃ</a:t>
            </a:r>
            <a:r>
              <a:rPr dirty="0"/>
              <a:t>O INTERATIVA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58595B"/>
                </a:solidFill>
                <a:latin typeface="Calibri"/>
              </a:defRPr>
            </a:pPr>
            <a:r>
              <a:rPr lang="pt-PT" dirty="0"/>
              <a:t>Porta de entrada única para toda a oferta desportiva do concelho, n</a:t>
            </a:r>
            <a:r>
              <a:rPr dirty="0" err="1"/>
              <a:t>avega</a:t>
            </a:r>
            <a:r>
              <a:rPr lang="pt-PT" dirty="0" err="1"/>
              <a:t>çã</a:t>
            </a:r>
            <a:r>
              <a:rPr dirty="0"/>
              <a:t>o </a:t>
            </a:r>
            <a:r>
              <a:rPr dirty="0" err="1"/>
              <a:t>pelas</a:t>
            </a:r>
            <a:r>
              <a:rPr dirty="0"/>
              <a:t> </a:t>
            </a:r>
            <a:r>
              <a:rPr dirty="0" err="1"/>
              <a:t>funcionalidades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da </a:t>
            </a:r>
            <a:r>
              <a:rPr dirty="0" err="1"/>
              <a:t>aplica</a:t>
            </a:r>
            <a:r>
              <a:rPr lang="pt-PT" dirty="0" err="1"/>
              <a:t>çã</a:t>
            </a:r>
            <a:r>
              <a:rPr dirty="0"/>
              <a:t>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922026"/>
            <a:ext cx="8229600" cy="3840480"/>
          </a:xfrm>
          <a:prstGeom prst="roundRect">
            <a:avLst>
              <a:gd name="adj" fmla="val 5000"/>
            </a:avLst>
          </a:prstGeom>
          <a:solidFill>
            <a:srgbClr val="101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311074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APRESENTACAO_APP.mp4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5082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88888"/>
                </a:solidFill>
                <a:latin typeface="Calibri"/>
              </a:defRPr>
            </a:pPr>
            <a:r>
              <a:t>Inserir &gt; Video &gt; Video no Meu PC &gt; APRESENTACAO_APP.mp4</a:t>
            </a:r>
          </a:p>
        </p:txBody>
      </p:sp>
      <p:pic>
        <p:nvPicPr>
          <p:cNvPr id="11" name="APRESENTACAO_APP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1794123"/>
            <a:ext cx="8229600" cy="3840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77724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A </a:t>
            </a:r>
            <a:r>
              <a:rPr dirty="0" err="1"/>
              <a:t>Proposta</a:t>
            </a:r>
            <a:r>
              <a:rPr dirty="0"/>
              <a:t>: </a:t>
            </a:r>
            <a:r>
              <a:rPr dirty="0" err="1"/>
              <a:t>Oeiras</a:t>
            </a:r>
            <a:r>
              <a:rPr dirty="0"/>
              <a:t> Viva </a:t>
            </a:r>
            <a:r>
              <a:rPr dirty="0" err="1"/>
              <a:t>Desporto</a:t>
            </a:r>
            <a:r>
              <a:rPr lang="pt-PT" dirty="0"/>
              <a:t>, </a:t>
            </a:r>
            <a:r>
              <a:rPr lang="pt-PT" dirty="0" err="1"/>
              <a:t>Interactive</a:t>
            </a:r>
            <a:r>
              <a:rPr lang="pt-PT" dirty="0"/>
              <a:t> </a:t>
            </a:r>
            <a:r>
              <a:rPr lang="pt-PT" dirty="0" err="1"/>
              <a:t>Dashboard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5000"/>
            </a:avLst>
          </a:prstGeom>
          <a:solidFill>
            <a:srgbClr val="00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4DC88B"/>
                </a:solidFill>
                <a:latin typeface="Calibri"/>
              </a:defRPr>
            </a:pPr>
            <a:r>
              <a:t>Oeiras Viva Desporto  |  Abril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A651"/>
                </a:solidFill>
                <a:latin typeface="Calibri"/>
              </a:defRPr>
            </a:pPr>
            <a:r>
              <a:rPr dirty="0"/>
              <a:t>MILESTONE 2  </a:t>
            </a:r>
            <a:endParaRPr lang="pt-PT" dirty="0"/>
          </a:p>
          <a:p>
            <a:pPr algn="l">
              <a:defRPr sz="1100" b="1" i="0">
                <a:solidFill>
                  <a:srgbClr val="00A651"/>
                </a:solidFill>
                <a:latin typeface="Calibri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Segmenta</a:t>
            </a:r>
            <a:r>
              <a:rPr lang="pt-PT" dirty="0" err="1"/>
              <a:t>çã</a:t>
            </a:r>
            <a:r>
              <a:rPr dirty="0"/>
              <a:t>o de </a:t>
            </a:r>
            <a:r>
              <a:rPr dirty="0" err="1"/>
              <a:t>Utilizadores</a:t>
            </a:r>
            <a:r>
              <a:rPr dirty="0"/>
              <a:t> &amp; Valor Social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Clustering para </a:t>
            </a:r>
            <a:r>
              <a:rPr dirty="0" err="1"/>
              <a:t>personaliza</a:t>
            </a:r>
            <a:r>
              <a:rPr lang="pt-PT" dirty="0" err="1"/>
              <a:t>ção</a:t>
            </a:r>
            <a:r>
              <a:rPr dirty="0"/>
              <a:t> da </a:t>
            </a:r>
            <a:r>
              <a:rPr dirty="0" err="1"/>
              <a:t>experi</a:t>
            </a:r>
            <a:r>
              <a:rPr lang="pt-PT" dirty="0"/>
              <a:t>ê</a:t>
            </a:r>
            <a:r>
              <a:rPr dirty="0" err="1"/>
              <a:t>ncia</a:t>
            </a:r>
            <a:r>
              <a:rPr dirty="0"/>
              <a:t> </a:t>
            </a:r>
            <a:r>
              <a:rPr dirty="0" err="1"/>
              <a:t>desportiva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4864" cy="1463040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T</a:t>
            </a:r>
            <a:r>
              <a:rPr lang="pt-PT" dirty="0"/>
              <a:t>é</a:t>
            </a:r>
            <a:r>
              <a:rPr dirty="0" err="1"/>
              <a:t>cnica</a:t>
            </a:r>
            <a:r>
              <a:rPr dirty="0"/>
              <a:t>: 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475488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N</a:t>
            </a:r>
            <a:r>
              <a:rPr lang="pt-PT" dirty="0"/>
              <a:t>í</a:t>
            </a:r>
            <a:r>
              <a:rPr dirty="0" err="1"/>
              <a:t>vel</a:t>
            </a:r>
            <a:r>
              <a:rPr dirty="0"/>
              <a:t> de </a:t>
            </a:r>
            <a:r>
              <a:rPr dirty="0" err="1"/>
              <a:t>atividade</a:t>
            </a:r>
            <a:r>
              <a:rPr dirty="0"/>
              <a:t> = principal </a:t>
            </a:r>
            <a:r>
              <a:rPr dirty="0" err="1"/>
              <a:t>diferenciador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Faixa</a:t>
            </a:r>
            <a:r>
              <a:rPr dirty="0"/>
              <a:t> et</a:t>
            </a:r>
            <a:r>
              <a:rPr lang="pt-PT" dirty="0"/>
              <a:t>á</a:t>
            </a:r>
            <a:r>
              <a:rPr dirty="0" err="1"/>
              <a:t>ria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segundo</a:t>
            </a:r>
            <a:r>
              <a:rPr dirty="0"/>
              <a:t> </a:t>
            </a:r>
            <a:r>
              <a:rPr dirty="0" err="1"/>
              <a:t>plano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Sexo</a:t>
            </a:r>
            <a:r>
              <a:rPr dirty="0"/>
              <a:t> e </a:t>
            </a:r>
            <a:r>
              <a:rPr dirty="0" err="1"/>
              <a:t>estado</a:t>
            </a:r>
            <a:r>
              <a:rPr dirty="0"/>
              <a:t> civil: </a:t>
            </a:r>
            <a:r>
              <a:rPr dirty="0" err="1"/>
              <a:t>baixo</a:t>
            </a:r>
            <a:r>
              <a:rPr dirty="0"/>
              <a:t> </a:t>
            </a:r>
            <a:r>
              <a:rPr dirty="0" err="1"/>
              <a:t>poder</a:t>
            </a:r>
            <a:r>
              <a:rPr dirty="0"/>
              <a:t> </a:t>
            </a:r>
            <a:r>
              <a:rPr dirty="0" err="1"/>
              <a:t>discriminat</a:t>
            </a:r>
            <a:r>
              <a:rPr lang="pt-PT" dirty="0"/>
              <a:t>ó</a:t>
            </a:r>
            <a:r>
              <a:rPr dirty="0" err="1"/>
              <a:t>rio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54864" cy="1371600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B6F"/>
                </a:solidFill>
                <a:latin typeface="Calibri"/>
              </a:defRPr>
            </a:pPr>
            <a:r>
              <a:t>3 Perfis Identificados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40"/>
            <a:ext cx="475488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Ativos</a:t>
            </a:r>
            <a:r>
              <a:rPr dirty="0"/>
              <a:t> </a:t>
            </a:r>
            <a:r>
              <a:rPr dirty="0" err="1"/>
              <a:t>frequentes</a:t>
            </a:r>
            <a:r>
              <a:rPr dirty="0"/>
              <a:t> - m</a:t>
            </a:r>
            <a:r>
              <a:rPr lang="pt-PT" dirty="0"/>
              <a:t>ú</a:t>
            </a:r>
            <a:r>
              <a:rPr dirty="0" err="1"/>
              <a:t>ltiplas</a:t>
            </a:r>
            <a:r>
              <a:rPr dirty="0"/>
              <a:t> </a:t>
            </a:r>
            <a:r>
              <a:rPr dirty="0" err="1"/>
              <a:t>modalidades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Moderados</a:t>
            </a:r>
            <a:r>
              <a:rPr dirty="0"/>
              <a:t> - </a:t>
            </a:r>
            <a:r>
              <a:rPr dirty="0" err="1"/>
              <a:t>pr</a:t>
            </a:r>
            <a:r>
              <a:rPr lang="pt-PT" dirty="0"/>
              <a:t>á</a:t>
            </a:r>
            <a:r>
              <a:rPr dirty="0" err="1"/>
              <a:t>tica</a:t>
            </a:r>
            <a:r>
              <a:rPr dirty="0"/>
              <a:t> regular mas </a:t>
            </a:r>
            <a:r>
              <a:rPr dirty="0" err="1"/>
              <a:t>limitada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Sedent</a:t>
            </a:r>
            <a:r>
              <a:rPr lang="pt-PT" dirty="0"/>
              <a:t>á</a:t>
            </a:r>
            <a:r>
              <a:rPr dirty="0" err="1"/>
              <a:t>rios</a:t>
            </a:r>
            <a:r>
              <a:rPr dirty="0"/>
              <a:t> - </a:t>
            </a:r>
            <a:r>
              <a:rPr dirty="0" err="1"/>
              <a:t>baixa</a:t>
            </a:r>
            <a:r>
              <a:rPr dirty="0"/>
              <a:t> </a:t>
            </a:r>
            <a:r>
              <a:rPr dirty="0" err="1"/>
              <a:t>frequ</a:t>
            </a:r>
            <a:r>
              <a:rPr lang="pt-PT" dirty="0"/>
              <a:t>ê</a:t>
            </a:r>
            <a:r>
              <a:rPr dirty="0" err="1"/>
              <a:t>ncia</a:t>
            </a:r>
            <a:r>
              <a:rPr dirty="0"/>
              <a:t>, </a:t>
            </a:r>
            <a:r>
              <a:rPr dirty="0" err="1"/>
              <a:t>potencial</a:t>
            </a:r>
            <a:r>
              <a:rPr dirty="0"/>
              <a:t> de convers</a:t>
            </a:r>
            <a:r>
              <a:rPr lang="pt-PT" dirty="0"/>
              <a:t>ã</a:t>
            </a:r>
            <a:r>
              <a:rPr dirty="0"/>
              <a:t>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920240"/>
            <a:ext cx="502920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26480" y="1920240"/>
            <a:ext cx="54864" cy="1920240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Cria</a:t>
            </a:r>
            <a:r>
              <a:rPr lang="pt-PT" dirty="0" err="1"/>
              <a:t>çã</a:t>
            </a:r>
            <a:r>
              <a:rPr dirty="0"/>
              <a:t>o de Valor Social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31720"/>
            <a:ext cx="475488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Grupos</a:t>
            </a:r>
            <a:r>
              <a:rPr dirty="0"/>
              <a:t> e </a:t>
            </a:r>
            <a:r>
              <a:rPr dirty="0" err="1"/>
              <a:t>aulas</a:t>
            </a:r>
            <a:r>
              <a:rPr dirty="0"/>
              <a:t> com </a:t>
            </a:r>
            <a:r>
              <a:rPr dirty="0" err="1"/>
              <a:t>perfis</a:t>
            </a:r>
            <a:r>
              <a:rPr dirty="0"/>
              <a:t> </a:t>
            </a:r>
            <a:r>
              <a:rPr dirty="0" err="1"/>
              <a:t>compat</a:t>
            </a:r>
            <a:r>
              <a:rPr lang="pt-PT" dirty="0"/>
              <a:t>í</a:t>
            </a:r>
            <a:r>
              <a:rPr dirty="0" err="1"/>
              <a:t>veis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Afinidade</a:t>
            </a:r>
            <a:r>
              <a:rPr dirty="0"/>
              <a:t> e </a:t>
            </a:r>
            <a:r>
              <a:rPr dirty="0" err="1"/>
              <a:t>continuidade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</a:t>
            </a:r>
            <a:r>
              <a:rPr lang="pt-PT" dirty="0"/>
              <a:t>á</a:t>
            </a:r>
            <a:r>
              <a:rPr dirty="0" err="1"/>
              <a:t>tica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La</a:t>
            </a:r>
            <a:r>
              <a:rPr lang="pt-PT" dirty="0"/>
              <a:t>ç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sociais</a:t>
            </a:r>
            <a:r>
              <a:rPr dirty="0"/>
              <a:t> e </a:t>
            </a:r>
            <a:r>
              <a:rPr dirty="0" err="1"/>
              <a:t>combate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isolamento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Inclus</a:t>
            </a:r>
            <a:r>
              <a:rPr lang="pt-PT" dirty="0"/>
              <a:t>ã</a:t>
            </a:r>
            <a:r>
              <a:rPr dirty="0"/>
              <a:t>o </a:t>
            </a:r>
            <a:r>
              <a:rPr dirty="0" err="1"/>
              <a:t>ativa</a:t>
            </a:r>
            <a:r>
              <a:rPr dirty="0"/>
              <a:t> e </a:t>
            </a:r>
            <a:r>
              <a:rPr dirty="0" err="1"/>
              <a:t>redu</a:t>
            </a:r>
            <a:r>
              <a:rPr lang="pt-PT" dirty="0" err="1"/>
              <a:t>çã</a:t>
            </a:r>
            <a:r>
              <a:rPr dirty="0"/>
              <a:t>o de </a:t>
            </a:r>
            <a:r>
              <a:rPr dirty="0" err="1"/>
              <a:t>barreiras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6126480" y="4023360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0690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Estrat</a:t>
            </a:r>
            <a:r>
              <a:rPr lang="pt-PT" dirty="0"/>
              <a:t>é</a:t>
            </a:r>
            <a:r>
              <a:rPr dirty="0" err="1"/>
              <a:t>gico</a:t>
            </a:r>
            <a:endParaRPr dirty="0"/>
          </a:p>
          <a:p>
            <a:pPr algn="l">
              <a:spcAft>
                <a:spcPts val="4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 err="1"/>
              <a:t>Personaliza</a:t>
            </a:r>
            <a:r>
              <a:rPr lang="pt-PT" dirty="0" err="1"/>
              <a:t>çã</a:t>
            </a:r>
            <a:r>
              <a:rPr dirty="0"/>
              <a:t>o </a:t>
            </a:r>
            <a:r>
              <a:rPr dirty="0" err="1"/>
              <a:t>refor</a:t>
            </a:r>
            <a:r>
              <a:rPr lang="pt-PT" dirty="0"/>
              <a:t>ç</a:t>
            </a:r>
            <a:r>
              <a:rPr dirty="0"/>
              <a:t>a </a:t>
            </a:r>
            <a:r>
              <a:rPr lang="pt-PT" dirty="0"/>
              <a:t>coesão social, </a:t>
            </a:r>
            <a:r>
              <a:rPr dirty="0" err="1"/>
              <a:t>bem-estar</a:t>
            </a:r>
            <a:r>
              <a:rPr dirty="0"/>
              <a:t> e </a:t>
            </a:r>
            <a:r>
              <a:rPr dirty="0" err="1"/>
              <a:t>participa</a:t>
            </a:r>
            <a:r>
              <a:rPr lang="pt-PT" dirty="0" err="1"/>
              <a:t>çã</a:t>
            </a:r>
            <a:r>
              <a:rPr dirty="0"/>
              <a:t>o </a:t>
            </a:r>
            <a:r>
              <a:rPr dirty="0" err="1"/>
              <a:t>sustentada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58595B"/>
                </a:solidFill>
                <a:latin typeface="Calibri"/>
              </a:defRPr>
            </a:pPr>
            <a:r>
              <a:rPr dirty="0" err="1"/>
              <a:t>Futuramente</a:t>
            </a:r>
            <a:r>
              <a:rPr dirty="0"/>
              <a:t>: an</a:t>
            </a:r>
            <a:r>
              <a:rPr lang="pt-PT" dirty="0"/>
              <a:t>á</a:t>
            </a:r>
            <a:r>
              <a:rPr dirty="0" err="1"/>
              <a:t>lise</a:t>
            </a:r>
            <a:r>
              <a:rPr dirty="0"/>
              <a:t> de cliques, </a:t>
            </a:r>
            <a:r>
              <a:rPr dirty="0" err="1"/>
              <a:t>rea</a:t>
            </a:r>
            <a:r>
              <a:rPr lang="pt-PT" dirty="0" err="1"/>
              <a:t>çã</a:t>
            </a:r>
            <a:r>
              <a:rPr dirty="0"/>
              <a:t>o a </a:t>
            </a:r>
            <a:r>
              <a:rPr dirty="0" err="1"/>
              <a:t>imagens</a:t>
            </a:r>
            <a:r>
              <a:rPr dirty="0"/>
              <a:t> e feedback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parceria</a:t>
            </a:r>
            <a:r>
              <a:rPr dirty="0"/>
              <a:t> com </a:t>
            </a:r>
            <a:r>
              <a:rPr dirty="0" err="1"/>
              <a:t>universidades</a:t>
            </a:r>
            <a:r>
              <a:rPr dirty="0"/>
              <a:t> (ISEG)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5000"/>
            </a:avLst>
          </a:prstGeom>
          <a:solidFill>
            <a:srgbClr val="00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4DC88B"/>
                </a:solidFill>
                <a:latin typeface="Calibri"/>
              </a:defRPr>
            </a:pPr>
            <a:r>
              <a:t>Oeiras Viva Desporto  |  Abril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05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A651"/>
                </a:solidFill>
                <a:latin typeface="Calibri"/>
              </a:defRPr>
            </a:pPr>
            <a:r>
              <a:rPr dirty="0"/>
              <a:t>MILESTONE 2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Complementaridade</a:t>
            </a:r>
            <a:r>
              <a:rPr dirty="0"/>
              <a:t> de </a:t>
            </a:r>
            <a:r>
              <a:rPr dirty="0" err="1"/>
              <a:t>Canais</a:t>
            </a:r>
            <a:r>
              <a:rPr dirty="0"/>
              <a:t> &amp; </a:t>
            </a:r>
            <a:r>
              <a:rPr dirty="0" err="1"/>
              <a:t>Passaporte</a:t>
            </a:r>
            <a:r>
              <a:rPr lang="pt-PT" dirty="0"/>
              <a:t> +Desportivo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Integra</a:t>
            </a:r>
            <a:r>
              <a:rPr lang="pt-PT" dirty="0" err="1"/>
              <a:t>çã</a:t>
            </a:r>
            <a:r>
              <a:rPr dirty="0"/>
              <a:t>o f</a:t>
            </a:r>
            <a:r>
              <a:rPr lang="pt-PT" dirty="0"/>
              <a:t>í</a:t>
            </a:r>
            <a:r>
              <a:rPr dirty="0" err="1"/>
              <a:t>sica</a:t>
            </a:r>
            <a:r>
              <a:rPr dirty="0"/>
              <a:t>-digital </a:t>
            </a:r>
            <a:r>
              <a:rPr dirty="0" err="1"/>
              <a:t>que</a:t>
            </a:r>
            <a:r>
              <a:rPr dirty="0"/>
              <a:t> n</a:t>
            </a:r>
            <a:r>
              <a:rPr lang="pt-PT" dirty="0"/>
              <a:t>ã</a:t>
            </a:r>
            <a:r>
              <a:rPr dirty="0"/>
              <a:t>o </a:t>
            </a:r>
            <a:r>
              <a:rPr dirty="0" err="1"/>
              <a:t>deixa</a:t>
            </a:r>
            <a:r>
              <a:rPr dirty="0"/>
              <a:t> </a:t>
            </a:r>
            <a:r>
              <a:rPr dirty="0" err="1"/>
              <a:t>ningu</a:t>
            </a:r>
            <a:r>
              <a:rPr lang="pt-PT" dirty="0"/>
              <a:t>é</a:t>
            </a:r>
            <a:r>
              <a:rPr dirty="0"/>
              <a:t>m </a:t>
            </a:r>
            <a:r>
              <a:rPr dirty="0" err="1"/>
              <a:t>para</a:t>
            </a:r>
            <a:r>
              <a:rPr dirty="0"/>
              <a:t> </a:t>
            </a:r>
            <a:r>
              <a:rPr dirty="0" err="1"/>
              <a:t>tr</a:t>
            </a:r>
            <a:r>
              <a:rPr lang="pt-PT" dirty="0"/>
              <a:t>á</a:t>
            </a:r>
            <a:r>
              <a:rPr dirty="0"/>
              <a:t>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4864" cy="2011680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Canais</a:t>
            </a:r>
            <a:r>
              <a:rPr dirty="0"/>
              <a:t> F</a:t>
            </a:r>
            <a:r>
              <a:rPr lang="pt-PT" dirty="0"/>
              <a:t>í</a:t>
            </a:r>
            <a:r>
              <a:rPr dirty="0" err="1"/>
              <a:t>sicos</a:t>
            </a:r>
            <a:r>
              <a:rPr dirty="0"/>
              <a:t> + </a:t>
            </a:r>
            <a:r>
              <a:rPr dirty="0" err="1"/>
              <a:t>Digitais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47548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Inscri</a:t>
            </a:r>
            <a:r>
              <a:rPr lang="pt-PT" dirty="0" err="1"/>
              <a:t>çã</a:t>
            </a:r>
            <a:r>
              <a:rPr dirty="0"/>
              <a:t>o </a:t>
            </a:r>
            <a:r>
              <a:rPr dirty="0" err="1"/>
              <a:t>presencial</a:t>
            </a:r>
            <a:r>
              <a:rPr dirty="0"/>
              <a:t> com </a:t>
            </a:r>
            <a:r>
              <a:rPr dirty="0" err="1"/>
              <a:t>passaporte</a:t>
            </a:r>
            <a:r>
              <a:rPr dirty="0"/>
              <a:t> f</a:t>
            </a:r>
            <a:r>
              <a:rPr lang="pt-PT" dirty="0"/>
              <a:t>í</a:t>
            </a:r>
            <a:r>
              <a:rPr dirty="0" err="1"/>
              <a:t>sico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Registo</a:t>
            </a:r>
            <a:r>
              <a:rPr dirty="0"/>
              <a:t> "</a:t>
            </a:r>
            <a:r>
              <a:rPr dirty="0" err="1"/>
              <a:t>convidado</a:t>
            </a:r>
            <a:r>
              <a:rPr dirty="0"/>
              <a:t>" - </a:t>
            </a:r>
            <a:r>
              <a:rPr dirty="0" err="1"/>
              <a:t>reduz</a:t>
            </a:r>
            <a:r>
              <a:rPr dirty="0"/>
              <a:t> </a:t>
            </a:r>
            <a:r>
              <a:rPr dirty="0" err="1"/>
              <a:t>atrito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Juntas, </a:t>
            </a:r>
            <a:r>
              <a:rPr dirty="0" err="1"/>
              <a:t>escolas</a:t>
            </a:r>
            <a:r>
              <a:rPr dirty="0"/>
              <a:t>, </a:t>
            </a:r>
            <a:r>
              <a:rPr dirty="0" err="1"/>
              <a:t>centros</a:t>
            </a:r>
            <a:r>
              <a:rPr dirty="0"/>
              <a:t> </a:t>
            </a:r>
            <a:r>
              <a:rPr dirty="0" err="1"/>
              <a:t>sa</a:t>
            </a:r>
            <a:r>
              <a:rPr lang="pt-PT" dirty="0"/>
              <a:t>ú</a:t>
            </a:r>
            <a:r>
              <a:rPr dirty="0"/>
              <a:t>de = </a:t>
            </a:r>
            <a:r>
              <a:rPr dirty="0" err="1"/>
              <a:t>proximidade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Bilheteira</a:t>
            </a:r>
            <a:r>
              <a:rPr dirty="0"/>
              <a:t> </a:t>
            </a:r>
            <a:r>
              <a:rPr dirty="0" err="1"/>
              <a:t>dividida</a:t>
            </a:r>
            <a:r>
              <a:rPr dirty="0"/>
              <a:t>: </a:t>
            </a:r>
            <a:r>
              <a:rPr dirty="0" err="1"/>
              <a:t>equidade</a:t>
            </a:r>
            <a:r>
              <a:rPr dirty="0"/>
              <a:t> de </a:t>
            </a:r>
            <a:r>
              <a:rPr dirty="0" err="1"/>
              <a:t>acesso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QR code no </a:t>
            </a:r>
            <a:r>
              <a:rPr dirty="0" err="1"/>
              <a:t>passaporte</a:t>
            </a:r>
            <a:r>
              <a:rPr dirty="0"/>
              <a:t> f</a:t>
            </a:r>
            <a:r>
              <a:rPr lang="pt-PT" dirty="0"/>
              <a:t>í</a:t>
            </a:r>
            <a:r>
              <a:rPr dirty="0" err="1"/>
              <a:t>sico</a:t>
            </a:r>
            <a:r>
              <a:rPr dirty="0"/>
              <a:t> = </a:t>
            </a:r>
            <a:r>
              <a:rPr dirty="0" err="1"/>
              <a:t>ponte</a:t>
            </a:r>
            <a:r>
              <a:rPr dirty="0"/>
              <a:t> </a:t>
            </a:r>
            <a:r>
              <a:rPr dirty="0" err="1"/>
              <a:t>para</a:t>
            </a:r>
            <a:r>
              <a:rPr dirty="0"/>
              <a:t>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12700">
            <a:solidFill>
              <a:srgbClr val="003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258211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Canais</a:t>
            </a:r>
            <a:r>
              <a:rPr dirty="0"/>
              <a:t> </a:t>
            </a:r>
            <a:r>
              <a:rPr dirty="0" err="1"/>
              <a:t>independentes</a:t>
            </a:r>
            <a:r>
              <a:rPr dirty="0"/>
              <a:t> -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fri</a:t>
            </a:r>
            <a:r>
              <a:rPr lang="pt-PT" dirty="0" err="1"/>
              <a:t>cçõ</a:t>
            </a:r>
            <a:r>
              <a:rPr dirty="0" err="1"/>
              <a:t>es</a:t>
            </a:r>
            <a:r>
              <a:rPr dirty="0"/>
              <a:t>, </a:t>
            </a:r>
            <a:r>
              <a:rPr dirty="0" err="1"/>
              <a:t>servi</a:t>
            </a:r>
            <a:r>
              <a:rPr lang="pt-PT" dirty="0" err="1"/>
              <a:t>ço</a:t>
            </a:r>
            <a:r>
              <a:rPr lang="pt-PT" dirty="0"/>
              <a:t> </a:t>
            </a:r>
            <a:r>
              <a:rPr dirty="0" err="1"/>
              <a:t>complementa</a:t>
            </a:r>
            <a:r>
              <a:rPr lang="pt-PT" dirty="0"/>
              <a:t>r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126480" y="192024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1920240"/>
            <a:ext cx="54864" cy="1828800"/>
          </a:xfrm>
          <a:prstGeom prst="roundRect">
            <a:avLst>
              <a:gd name="adj" fmla="val 5000"/>
            </a:avLst>
          </a:prstGeom>
          <a:solidFill>
            <a:srgbClr val="E8B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Passaporte</a:t>
            </a:r>
            <a:r>
              <a:rPr dirty="0"/>
              <a:t>+ </a:t>
            </a:r>
            <a:r>
              <a:rPr dirty="0" err="1"/>
              <a:t>Desport</a:t>
            </a:r>
            <a:r>
              <a:rPr lang="pt-PT" dirty="0" err="1"/>
              <a:t>ivo</a:t>
            </a:r>
            <a:r>
              <a:rPr dirty="0"/>
              <a:t>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475488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Badges: Lugar, </a:t>
            </a:r>
            <a:r>
              <a:rPr dirty="0" err="1"/>
              <a:t>Modalidade</a:t>
            </a:r>
            <a:r>
              <a:rPr dirty="0"/>
              <a:t>, </a:t>
            </a:r>
            <a:r>
              <a:rPr dirty="0" err="1"/>
              <a:t>Consistencia</a:t>
            </a:r>
            <a:r>
              <a:rPr dirty="0"/>
              <a:t>, ODS...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Oeiras</a:t>
            </a:r>
            <a:r>
              <a:rPr lang="pt-PT" dirty="0"/>
              <a:t>Coins</a:t>
            </a:r>
            <a:r>
              <a:rPr dirty="0"/>
              <a:t>: </a:t>
            </a:r>
            <a:r>
              <a:rPr dirty="0" err="1"/>
              <a:t>descontos</a:t>
            </a:r>
            <a:r>
              <a:rPr dirty="0"/>
              <a:t>, </a:t>
            </a:r>
            <a:r>
              <a:rPr dirty="0" err="1"/>
              <a:t>bilhetes</a:t>
            </a:r>
            <a:r>
              <a:rPr dirty="0"/>
              <a:t>, VIP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Streaks </a:t>
            </a:r>
            <a:r>
              <a:rPr dirty="0" err="1"/>
              <a:t>semanais</a:t>
            </a:r>
            <a:r>
              <a:rPr dirty="0"/>
              <a:t> + rankings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freguesia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Desafios</a:t>
            </a:r>
            <a:r>
              <a:rPr dirty="0"/>
              <a:t> </a:t>
            </a:r>
            <a:r>
              <a:rPr dirty="0" err="1"/>
              <a:t>trimestrais</a:t>
            </a:r>
            <a:r>
              <a:rPr dirty="0"/>
              <a:t> do concelho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93192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26480" y="3931920"/>
            <a:ext cx="54864" cy="1097280"/>
          </a:xfrm>
          <a:prstGeom prst="roundRect">
            <a:avLst>
              <a:gd name="adj" fmla="val 5000"/>
            </a:avLst>
          </a:prstGeom>
          <a:solidFill>
            <a:srgbClr val="585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4023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B6F"/>
                </a:solidFill>
                <a:latin typeface="Calibri"/>
              </a:defRPr>
            </a:pPr>
            <a:r>
              <a:t>Passaporte Fisico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343400"/>
            <a:ext cx="4754880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Modalidades</a:t>
            </a:r>
            <a:r>
              <a:rPr dirty="0"/>
              <a:t> + </a:t>
            </a:r>
            <a:r>
              <a:rPr dirty="0" err="1"/>
              <a:t>mapa</a:t>
            </a:r>
            <a:r>
              <a:rPr dirty="0"/>
              <a:t> + </a:t>
            </a:r>
            <a:r>
              <a:rPr dirty="0" err="1"/>
              <a:t>carimbos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locais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QR code </a:t>
            </a:r>
            <a:r>
              <a:rPr dirty="0" err="1"/>
              <a:t>para</a:t>
            </a:r>
            <a:r>
              <a:rPr dirty="0"/>
              <a:t> </a:t>
            </a:r>
            <a:r>
              <a:rPr dirty="0" err="1"/>
              <a:t>transi</a:t>
            </a:r>
            <a:r>
              <a:rPr lang="pt-PT" dirty="0" err="1"/>
              <a:t>çã</a:t>
            </a:r>
            <a:r>
              <a:rPr dirty="0"/>
              <a:t>o </a:t>
            </a:r>
            <a:r>
              <a:rPr dirty="0" err="1"/>
              <a:t>omnicanal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5000"/>
            </a:avLst>
          </a:prstGeom>
          <a:solidFill>
            <a:srgbClr val="00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4DC88B"/>
                </a:solidFill>
                <a:latin typeface="Calibri"/>
              </a:defRPr>
            </a:pPr>
            <a:r>
              <a:t>Oeiras Viva Desporto  |  Abril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A651"/>
                </a:solidFill>
                <a:latin typeface="Calibri"/>
              </a:defRPr>
            </a:pPr>
            <a:r>
              <a:rPr dirty="0"/>
              <a:t>MILESTONE 3  </a:t>
            </a:r>
            <a:endParaRPr lang="pt-PT" dirty="0"/>
          </a:p>
          <a:p>
            <a:pPr algn="l">
              <a:defRPr sz="1100" b="1" i="0">
                <a:solidFill>
                  <a:srgbClr val="00A651"/>
                </a:solidFill>
                <a:latin typeface="Calibri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Plano de </a:t>
            </a:r>
            <a:r>
              <a:rPr dirty="0" err="1"/>
              <a:t>Implementa</a:t>
            </a:r>
            <a:r>
              <a:rPr lang="pt-PT" dirty="0" err="1"/>
              <a:t>çã</a:t>
            </a:r>
            <a:r>
              <a:rPr dirty="0"/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58595B"/>
                </a:solidFill>
                <a:latin typeface="Calibri"/>
              </a:defRPr>
            </a:pPr>
            <a:r>
              <a:t>Roadmap a 6 meses, 2 anos e 5 anos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474720" cy="640080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6 MESES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Testar o Modelo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347472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32004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A</a:t>
            </a:r>
            <a:r>
              <a:rPr lang="pt-PT" dirty="0" err="1"/>
              <a:t>çõ</a:t>
            </a:r>
            <a:r>
              <a:rPr dirty="0" err="1"/>
              <a:t>es</a:t>
            </a:r>
            <a:r>
              <a:rPr dirty="0"/>
              <a:t>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Protocolos</a:t>
            </a:r>
            <a:r>
              <a:rPr dirty="0"/>
              <a:t> com </a:t>
            </a:r>
            <a:r>
              <a:rPr dirty="0" err="1"/>
              <a:t>parceiros</a:t>
            </a:r>
            <a:r>
              <a:rPr dirty="0"/>
              <a:t> </a:t>
            </a:r>
            <a:r>
              <a:rPr dirty="0" err="1"/>
              <a:t>priorit</a:t>
            </a:r>
            <a:r>
              <a:rPr lang="pt-PT" dirty="0"/>
              <a:t>á</a:t>
            </a:r>
            <a:r>
              <a:rPr dirty="0" err="1"/>
              <a:t>rios</a:t>
            </a:r>
            <a:endParaRPr dirty="0"/>
          </a:p>
          <a:p>
            <a:pPr algn="l">
              <a:spcAft>
                <a:spcPts val="2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Piloto</a:t>
            </a:r>
            <a:r>
              <a:rPr dirty="0"/>
              <a:t> com gin</a:t>
            </a:r>
            <a:r>
              <a:rPr lang="pt-PT" dirty="0"/>
              <a:t>á</a:t>
            </a:r>
            <a:r>
              <a:rPr dirty="0" err="1"/>
              <a:t>sios</a:t>
            </a:r>
            <a:r>
              <a:rPr dirty="0"/>
              <a:t> </a:t>
            </a:r>
            <a:r>
              <a:rPr dirty="0" err="1"/>
              <a:t>locais</a:t>
            </a:r>
            <a:endParaRPr dirty="0"/>
          </a:p>
          <a:p>
            <a:pPr algn="l">
              <a:spcAft>
                <a:spcPts val="2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Escolas</a:t>
            </a:r>
            <a:r>
              <a:rPr dirty="0"/>
              <a:t> + junta de </a:t>
            </a:r>
            <a:r>
              <a:rPr dirty="0" err="1"/>
              <a:t>freguesia</a:t>
            </a:r>
            <a:endParaRPr dirty="0"/>
          </a:p>
          <a:p>
            <a:pPr algn="l">
              <a:spcAft>
                <a:spcPts val="2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Articula</a:t>
            </a:r>
            <a:r>
              <a:rPr lang="pt-PT" dirty="0" err="1"/>
              <a:t>çã</a:t>
            </a:r>
            <a:r>
              <a:rPr dirty="0"/>
              <a:t>o </a:t>
            </a:r>
            <a:r>
              <a:rPr dirty="0" err="1"/>
              <a:t>universidades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0A651"/>
                </a:solidFill>
                <a:latin typeface="Calibri"/>
              </a:defRPr>
            </a:pPr>
            <a:r>
              <a:rPr lang="pt-PT" dirty="0" err="1"/>
              <a:t>C</a:t>
            </a:r>
            <a:r>
              <a:rPr dirty="0" err="1"/>
              <a:t>alend</a:t>
            </a:r>
            <a:r>
              <a:rPr lang="pt-PT" dirty="0"/>
              <a:t>á</a:t>
            </a:r>
            <a:r>
              <a:rPr dirty="0" err="1"/>
              <a:t>rio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, 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recolha</a:t>
            </a:r>
            <a:r>
              <a:rPr dirty="0"/>
              <a:t> de dados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920240"/>
            <a:ext cx="3474720" cy="640080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59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2 ANOS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2677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Integrar &amp; Escalar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2560320"/>
            <a:ext cx="347472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19" y="2651760"/>
            <a:ext cx="3200400" cy="151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A</a:t>
            </a:r>
            <a:r>
              <a:rPr lang="pt-PT" dirty="0" err="1"/>
              <a:t>çõ</a:t>
            </a:r>
            <a:r>
              <a:rPr dirty="0" err="1"/>
              <a:t>es</a:t>
            </a:r>
            <a:r>
              <a:rPr dirty="0"/>
              <a:t>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Alargar</a:t>
            </a:r>
            <a:r>
              <a:rPr dirty="0"/>
              <a:t> </a:t>
            </a:r>
            <a:r>
              <a:rPr dirty="0" err="1"/>
              <a:t>parceiros</a:t>
            </a:r>
            <a:r>
              <a:rPr dirty="0"/>
              <a:t> </a:t>
            </a:r>
            <a:r>
              <a:rPr dirty="0" err="1"/>
              <a:t>locais</a:t>
            </a:r>
            <a:endParaRPr dirty="0"/>
          </a:p>
          <a:p>
            <a:pPr algn="l">
              <a:spcAft>
                <a:spcPts val="2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Escolas</a:t>
            </a:r>
            <a:r>
              <a:rPr dirty="0"/>
              <a:t>/juntas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canais</a:t>
            </a:r>
            <a:r>
              <a:rPr dirty="0"/>
              <a:t> de </a:t>
            </a:r>
            <a:r>
              <a:rPr dirty="0" err="1"/>
              <a:t>mobiliza</a:t>
            </a:r>
            <a:r>
              <a:rPr lang="pt-PT" dirty="0" err="1"/>
              <a:t>çã</a:t>
            </a:r>
            <a:r>
              <a:rPr dirty="0"/>
              <a:t>o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Fluxo</a:t>
            </a:r>
            <a:r>
              <a:rPr dirty="0"/>
              <a:t> f</a:t>
            </a:r>
            <a:r>
              <a:rPr lang="pt-PT" dirty="0"/>
              <a:t>í</a:t>
            </a:r>
            <a:r>
              <a:rPr dirty="0" err="1"/>
              <a:t>sico</a:t>
            </a:r>
            <a:r>
              <a:rPr dirty="0"/>
              <a:t>-digital </a:t>
            </a:r>
            <a:r>
              <a:rPr dirty="0" err="1"/>
              <a:t>completo</a:t>
            </a:r>
            <a:endParaRPr dirty="0"/>
          </a:p>
          <a:p>
            <a:pPr algn="l">
              <a:spcAft>
                <a:spcPts val="2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Uso</a:t>
            </a:r>
            <a:r>
              <a:rPr dirty="0"/>
              <a:t> anal</a:t>
            </a:r>
            <a:r>
              <a:rPr lang="pt-PT" dirty="0"/>
              <a:t>í</a:t>
            </a:r>
            <a:r>
              <a:rPr dirty="0" err="1"/>
              <a:t>tico</a:t>
            </a:r>
            <a:r>
              <a:rPr dirty="0"/>
              <a:t> dados com </a:t>
            </a:r>
            <a:r>
              <a:rPr dirty="0" err="1"/>
              <a:t>universidades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4617719" y="4389120"/>
            <a:ext cx="320040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0A651"/>
                </a:solidFill>
                <a:latin typeface="Calibri"/>
              </a:defRPr>
            </a:pPr>
            <a:r>
              <a:rPr dirty="0" err="1"/>
              <a:t>Entreg</a:t>
            </a:r>
            <a:r>
              <a:rPr lang="pt-PT" dirty="0"/>
              <a:t>á</a:t>
            </a:r>
            <a:r>
              <a:rPr dirty="0" err="1"/>
              <a:t>vel</a:t>
            </a:r>
            <a:r>
              <a:rPr dirty="0"/>
              <a:t>: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 err="1"/>
              <a:t>Rede</a:t>
            </a:r>
            <a:r>
              <a:rPr dirty="0"/>
              <a:t> </a:t>
            </a:r>
            <a:r>
              <a:rPr dirty="0" err="1"/>
              <a:t>estabilizada</a:t>
            </a:r>
            <a:r>
              <a:rPr dirty="0"/>
              <a:t>, </a:t>
            </a:r>
            <a:r>
              <a:rPr dirty="0" err="1"/>
              <a:t>calend</a:t>
            </a:r>
            <a:r>
              <a:rPr lang="pt-PT" dirty="0"/>
              <a:t>á</a:t>
            </a:r>
            <a:r>
              <a:rPr dirty="0" err="1"/>
              <a:t>rio</a:t>
            </a:r>
            <a:r>
              <a:rPr dirty="0"/>
              <a:t> </a:t>
            </a:r>
            <a:r>
              <a:rPr dirty="0" err="1"/>
              <a:t>anual</a:t>
            </a:r>
            <a:r>
              <a:rPr dirty="0"/>
              <a:t>, segment</a:t>
            </a:r>
            <a:r>
              <a:rPr lang="pt-PT" dirty="0" err="1"/>
              <a:t>açã</a:t>
            </a:r>
            <a:r>
              <a:rPr dirty="0"/>
              <a:t>o </a:t>
            </a:r>
            <a:r>
              <a:rPr dirty="0" err="1"/>
              <a:t>inicial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8229599" y="1920240"/>
            <a:ext cx="3474720" cy="640080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9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5 ANOS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22677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Inovar Continuamente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9" y="2560320"/>
            <a:ext cx="347472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59" y="2651760"/>
            <a:ext cx="32004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A</a:t>
            </a:r>
            <a:r>
              <a:rPr lang="pt-PT" dirty="0" err="1"/>
              <a:t>çõ</a:t>
            </a:r>
            <a:r>
              <a:rPr dirty="0" err="1"/>
              <a:t>es</a:t>
            </a:r>
            <a:r>
              <a:rPr dirty="0"/>
              <a:t>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An</a:t>
            </a:r>
            <a:r>
              <a:rPr lang="pt-PT" dirty="0"/>
              <a:t>á</a:t>
            </a:r>
            <a:r>
              <a:rPr dirty="0"/>
              <a:t>l</a:t>
            </a:r>
            <a:r>
              <a:rPr lang="pt-PT" dirty="0"/>
              <a:t>i</a:t>
            </a:r>
            <a:r>
              <a:rPr dirty="0"/>
              <a:t>se </a:t>
            </a:r>
            <a:r>
              <a:rPr dirty="0" err="1"/>
              <a:t>padr</a:t>
            </a:r>
            <a:r>
              <a:rPr lang="pt-PT" dirty="0"/>
              <a:t>õ</a:t>
            </a:r>
            <a:r>
              <a:rPr dirty="0" err="1"/>
              <a:t>es</a:t>
            </a:r>
            <a:r>
              <a:rPr dirty="0"/>
              <a:t> UX (cliques, feedback)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Projetos</a:t>
            </a:r>
            <a:r>
              <a:rPr dirty="0"/>
              <a:t> </a:t>
            </a:r>
            <a:r>
              <a:rPr dirty="0" err="1"/>
              <a:t>aplicados</a:t>
            </a:r>
            <a:r>
              <a:rPr dirty="0"/>
              <a:t> com </a:t>
            </a:r>
            <a:r>
              <a:rPr dirty="0" err="1"/>
              <a:t>universidades</a:t>
            </a:r>
            <a:endParaRPr dirty="0"/>
          </a:p>
          <a:p>
            <a:pPr algn="l">
              <a:spcAft>
                <a:spcPts val="2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acad</a:t>
            </a:r>
            <a:r>
              <a:rPr lang="pt-PT" dirty="0"/>
              <a:t>é</a:t>
            </a:r>
            <a:r>
              <a:rPr dirty="0" err="1"/>
              <a:t>micos</a:t>
            </a:r>
            <a:r>
              <a:rPr dirty="0"/>
              <a:t> de co-cri</a:t>
            </a:r>
            <a:r>
              <a:rPr lang="pt-PT" dirty="0" err="1"/>
              <a:t>açã</a:t>
            </a:r>
            <a:r>
              <a:rPr dirty="0"/>
              <a:t>o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Mecanismo</a:t>
            </a:r>
            <a:r>
              <a:rPr dirty="0"/>
              <a:t> </a:t>
            </a:r>
            <a:r>
              <a:rPr dirty="0" err="1"/>
              <a:t>inova</a:t>
            </a:r>
            <a:r>
              <a:rPr lang="pt-PT" dirty="0" err="1"/>
              <a:t>çã</a:t>
            </a:r>
            <a:r>
              <a:rPr dirty="0"/>
              <a:t>o </a:t>
            </a:r>
            <a:r>
              <a:rPr dirty="0" err="1"/>
              <a:t>cont</a:t>
            </a:r>
            <a:r>
              <a:rPr lang="pt-PT" dirty="0"/>
              <a:t>í</a:t>
            </a:r>
            <a:r>
              <a:rPr dirty="0" err="1"/>
              <a:t>nua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8366759" y="4389120"/>
            <a:ext cx="320040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0A651"/>
                </a:solidFill>
                <a:latin typeface="Calibri"/>
              </a:defRPr>
            </a:pPr>
            <a:r>
              <a:rPr dirty="0" err="1"/>
              <a:t>Entreg</a:t>
            </a:r>
            <a:r>
              <a:rPr lang="pt-PT" dirty="0"/>
              <a:t>á</a:t>
            </a:r>
            <a:r>
              <a:rPr dirty="0" err="1"/>
              <a:t>vel</a:t>
            </a:r>
            <a:r>
              <a:rPr dirty="0"/>
              <a:t>: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 err="1"/>
              <a:t>Plataforma</a:t>
            </a:r>
            <a:r>
              <a:rPr dirty="0"/>
              <a:t> </a:t>
            </a:r>
            <a:r>
              <a:rPr dirty="0" err="1"/>
              <a:t>otimizada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dados </a:t>
            </a:r>
            <a:r>
              <a:rPr dirty="0" err="1"/>
              <a:t>comportamentais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5000"/>
            </a:avLst>
          </a:prstGeom>
          <a:solidFill>
            <a:srgbClr val="00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4DC88B"/>
                </a:solidFill>
                <a:latin typeface="Calibri"/>
              </a:defRPr>
            </a:pPr>
            <a:r>
              <a:t>Oeiras Viva Desporto  |  Abril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05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A651"/>
                </a:solidFill>
                <a:latin typeface="Calibri"/>
              </a:defRPr>
            </a:pPr>
            <a:r>
              <a:rPr dirty="0"/>
              <a:t>MILESTONE </a:t>
            </a:r>
            <a:r>
              <a:rPr lang="pt-PT" dirty="0"/>
              <a:t>3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Plano de </a:t>
            </a:r>
            <a:r>
              <a:rPr dirty="0" err="1"/>
              <a:t>Comunica</a:t>
            </a:r>
            <a:r>
              <a:rPr lang="pt-PT" dirty="0" err="1"/>
              <a:t>çã</a:t>
            </a:r>
            <a:r>
              <a:rPr dirty="0"/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58595B"/>
                </a:solidFill>
                <a:latin typeface="Calibri"/>
              </a:defRPr>
            </a:pPr>
            <a:r>
              <a:t>App como epicentro - reduzir ruido, gamificar lancamento, ativar parcerias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30352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4864" cy="1920240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1. </a:t>
            </a:r>
            <a:r>
              <a:rPr dirty="0" err="1"/>
              <a:t>Otimiza</a:t>
            </a:r>
            <a:r>
              <a:rPr lang="pt-PT" dirty="0" err="1"/>
              <a:t>çã</a:t>
            </a:r>
            <a:r>
              <a:rPr dirty="0"/>
              <a:t>o de </a:t>
            </a:r>
            <a:r>
              <a:rPr dirty="0" err="1"/>
              <a:t>Canais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502920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Redes</a:t>
            </a:r>
            <a:r>
              <a:rPr dirty="0"/>
              <a:t> </a:t>
            </a:r>
            <a:r>
              <a:rPr dirty="0" err="1"/>
              <a:t>sociais</a:t>
            </a:r>
            <a:r>
              <a:rPr dirty="0"/>
              <a:t> s</a:t>
            </a:r>
            <a:r>
              <a:rPr lang="pt-PT" dirty="0"/>
              <a:t>ó</a:t>
            </a:r>
            <a:r>
              <a:rPr dirty="0"/>
              <a:t> </a:t>
            </a:r>
            <a:r>
              <a:rPr dirty="0" err="1"/>
              <a:t>para</a:t>
            </a:r>
            <a:r>
              <a:rPr dirty="0"/>
              <a:t> </a:t>
            </a:r>
            <a:r>
              <a:rPr dirty="0" err="1"/>
              <a:t>grandes</a:t>
            </a:r>
            <a:r>
              <a:rPr dirty="0"/>
              <a:t> </a:t>
            </a:r>
            <a:r>
              <a:rPr dirty="0" err="1"/>
              <a:t>eventos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Oferta</a:t>
            </a:r>
            <a:r>
              <a:rPr dirty="0"/>
              <a:t> regular </a:t>
            </a:r>
            <a:r>
              <a:rPr dirty="0" err="1"/>
              <a:t>migra</a:t>
            </a:r>
            <a:r>
              <a:rPr dirty="0"/>
              <a:t> </a:t>
            </a:r>
            <a:r>
              <a:rPr dirty="0" err="1"/>
              <a:t>para</a:t>
            </a:r>
            <a:r>
              <a:rPr dirty="0"/>
              <a:t> a App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Balc</a:t>
            </a:r>
            <a:r>
              <a:rPr lang="pt-PT" dirty="0"/>
              <a:t>ã</a:t>
            </a:r>
            <a:r>
              <a:rPr dirty="0"/>
              <a:t>o </a:t>
            </a:r>
            <a:r>
              <a:rPr lang="pt-PT" dirty="0"/>
              <a:t>ú</a:t>
            </a:r>
            <a:r>
              <a:rPr dirty="0" err="1"/>
              <a:t>nico</a:t>
            </a:r>
            <a:r>
              <a:rPr dirty="0"/>
              <a:t> digital para o mun</a:t>
            </a:r>
            <a:r>
              <a:rPr lang="pt-PT" dirty="0"/>
              <a:t>í</a:t>
            </a:r>
            <a:r>
              <a:rPr dirty="0" err="1"/>
              <a:t>cipe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530352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0" y="1920240"/>
            <a:ext cx="54864" cy="1920240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2. </a:t>
            </a:r>
            <a:r>
              <a:rPr dirty="0" err="1"/>
              <a:t>Gamifica</a:t>
            </a:r>
            <a:r>
              <a:rPr lang="pt-PT" dirty="0" err="1"/>
              <a:t>çã</a:t>
            </a:r>
            <a:r>
              <a:rPr dirty="0"/>
              <a:t>o no </a:t>
            </a:r>
            <a:r>
              <a:rPr dirty="0" err="1"/>
              <a:t>Lan</a:t>
            </a:r>
            <a:r>
              <a:rPr lang="pt-PT" dirty="0"/>
              <a:t>ç</a:t>
            </a:r>
            <a:r>
              <a:rPr dirty="0" err="1"/>
              <a:t>amento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50292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Selo</a:t>
            </a:r>
            <a:r>
              <a:rPr dirty="0"/>
              <a:t> digital "</a:t>
            </a:r>
            <a:r>
              <a:rPr dirty="0" err="1"/>
              <a:t>Fundador</a:t>
            </a:r>
            <a:r>
              <a:rPr dirty="0"/>
              <a:t>" </a:t>
            </a:r>
            <a:r>
              <a:rPr dirty="0" err="1"/>
              <a:t>para</a:t>
            </a:r>
            <a:r>
              <a:rPr dirty="0"/>
              <a:t> early adopters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B</a:t>
            </a:r>
            <a:r>
              <a:rPr lang="pt-PT" dirty="0"/>
              <a:t>ó</a:t>
            </a:r>
            <a:r>
              <a:rPr dirty="0"/>
              <a:t>nus de </a:t>
            </a:r>
            <a:r>
              <a:rPr dirty="0" err="1"/>
              <a:t>pontos</a:t>
            </a:r>
            <a:r>
              <a:rPr dirty="0"/>
              <a:t> no </a:t>
            </a:r>
            <a:r>
              <a:rPr dirty="0" err="1"/>
              <a:t>Passaporte</a:t>
            </a:r>
            <a:r>
              <a:rPr lang="pt-PT" dirty="0"/>
              <a:t> +Desportivo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Gera </a:t>
            </a:r>
            <a:r>
              <a:rPr dirty="0" err="1"/>
              <a:t>curiosidade</a:t>
            </a:r>
            <a:r>
              <a:rPr dirty="0"/>
              <a:t> </a:t>
            </a:r>
            <a:r>
              <a:rPr lang="pt-PT" dirty="0"/>
              <a:t>e chama utilizadores, impulsionando a</a:t>
            </a:r>
            <a:r>
              <a:rPr dirty="0"/>
              <a:t> base de dados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30352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54864" cy="1920240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3. </a:t>
            </a:r>
            <a:r>
              <a:rPr dirty="0" err="1"/>
              <a:t>Parcerias</a:t>
            </a:r>
            <a:r>
              <a:rPr dirty="0"/>
              <a:t> </a:t>
            </a:r>
            <a:r>
              <a:rPr dirty="0" err="1"/>
              <a:t>Estrat</a:t>
            </a:r>
            <a:r>
              <a:rPr lang="pt-PT" dirty="0"/>
              <a:t>é</a:t>
            </a:r>
            <a:r>
              <a:rPr dirty="0" err="1"/>
              <a:t>gicas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502920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Clubes</a:t>
            </a:r>
            <a:r>
              <a:rPr dirty="0"/>
              <a:t> e gin</a:t>
            </a:r>
            <a:r>
              <a:rPr lang="pt-PT" dirty="0"/>
              <a:t>á</a:t>
            </a:r>
            <a:r>
              <a:rPr dirty="0" err="1"/>
              <a:t>sios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canal de </a:t>
            </a:r>
            <a:r>
              <a:rPr dirty="0" err="1"/>
              <a:t>aquisi</a:t>
            </a:r>
            <a:r>
              <a:rPr lang="pt-PT" dirty="0" err="1"/>
              <a:t>çã</a:t>
            </a:r>
            <a:r>
              <a:rPr dirty="0"/>
              <a:t>o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Dupla</a:t>
            </a:r>
            <a:r>
              <a:rPr dirty="0"/>
              <a:t> fun</a:t>
            </a:r>
            <a:r>
              <a:rPr lang="pt-PT" dirty="0" err="1"/>
              <a:t>çã</a:t>
            </a:r>
            <a:r>
              <a:rPr dirty="0"/>
              <a:t>o: </a:t>
            </a:r>
            <a:r>
              <a:rPr dirty="0" err="1"/>
              <a:t>oferta</a:t>
            </a:r>
            <a:r>
              <a:rPr dirty="0"/>
              <a:t> + </a:t>
            </a:r>
            <a:r>
              <a:rPr dirty="0" err="1"/>
              <a:t>divulga</a:t>
            </a:r>
            <a:r>
              <a:rPr lang="pt-PT" dirty="0" err="1"/>
              <a:t>çã</a:t>
            </a:r>
            <a:r>
              <a:rPr dirty="0"/>
              <a:t>o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Plano de </a:t>
            </a:r>
            <a:r>
              <a:rPr dirty="0" err="1"/>
              <a:t>Incentivos</a:t>
            </a:r>
            <a:r>
              <a:rPr dirty="0"/>
              <a:t> </a:t>
            </a:r>
            <a:r>
              <a:rPr dirty="0" err="1"/>
              <a:t>integrado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6400800" y="4114800"/>
            <a:ext cx="530352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0" y="4114800"/>
            <a:ext cx="54864" cy="1920240"/>
          </a:xfrm>
          <a:prstGeom prst="roundRect">
            <a:avLst>
              <a:gd name="adj" fmla="val 5000"/>
            </a:avLst>
          </a:prstGeom>
          <a:solidFill>
            <a:srgbClr val="E8B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3B6F"/>
                </a:solidFill>
                <a:latin typeface="Calibri"/>
              </a:defRPr>
            </a:pPr>
            <a:r>
              <a:rPr dirty="0"/>
              <a:t>4. </a:t>
            </a:r>
            <a:r>
              <a:rPr dirty="0" err="1"/>
              <a:t>Cronograma</a:t>
            </a:r>
            <a:r>
              <a:rPr dirty="0"/>
              <a:t> de </a:t>
            </a:r>
            <a:r>
              <a:rPr dirty="0" err="1"/>
              <a:t>Ativa</a:t>
            </a:r>
            <a:r>
              <a:rPr lang="pt-PT" dirty="0" err="1"/>
              <a:t>çã</a:t>
            </a:r>
            <a:r>
              <a:rPr dirty="0"/>
              <a:t>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526280"/>
            <a:ext cx="502920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Pr</a:t>
            </a:r>
            <a:r>
              <a:rPr lang="pt-PT" dirty="0"/>
              <a:t>é</a:t>
            </a:r>
            <a:r>
              <a:rPr dirty="0"/>
              <a:t>-</a:t>
            </a:r>
            <a:r>
              <a:rPr dirty="0" err="1"/>
              <a:t>Lan</a:t>
            </a:r>
            <a:r>
              <a:rPr lang="pt-PT" dirty="0"/>
              <a:t>ç</a:t>
            </a:r>
            <a:r>
              <a:rPr dirty="0" err="1"/>
              <a:t>amento</a:t>
            </a:r>
            <a:r>
              <a:rPr dirty="0"/>
              <a:t>: </a:t>
            </a:r>
            <a:r>
              <a:rPr dirty="0" err="1"/>
              <a:t>campanha</a:t>
            </a:r>
            <a:r>
              <a:rPr dirty="0"/>
              <a:t> </a:t>
            </a:r>
            <a:r>
              <a:rPr dirty="0" err="1"/>
              <a:t>redes</a:t>
            </a:r>
            <a:r>
              <a:rPr dirty="0"/>
              <a:t> + </a:t>
            </a:r>
            <a:r>
              <a:rPr dirty="0" err="1"/>
              <a:t>pr</a:t>
            </a:r>
            <a:r>
              <a:rPr lang="pt-PT" dirty="0"/>
              <a:t>é</a:t>
            </a:r>
            <a:r>
              <a:rPr dirty="0"/>
              <a:t>-</a:t>
            </a:r>
            <a:r>
              <a:rPr dirty="0" err="1"/>
              <a:t>registo</a:t>
            </a:r>
            <a:endParaRPr dirty="0"/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Lan</a:t>
            </a:r>
            <a:r>
              <a:rPr lang="pt-PT" dirty="0"/>
              <a:t>ç</a:t>
            </a:r>
            <a:r>
              <a:rPr dirty="0" err="1"/>
              <a:t>amento</a:t>
            </a:r>
            <a:r>
              <a:rPr dirty="0"/>
              <a:t>: </a:t>
            </a:r>
            <a:r>
              <a:rPr dirty="0" err="1"/>
              <a:t>eventos</a:t>
            </a:r>
            <a:r>
              <a:rPr dirty="0"/>
              <a:t> + </a:t>
            </a:r>
            <a:r>
              <a:rPr dirty="0" err="1"/>
              <a:t>inscri</a:t>
            </a:r>
            <a:r>
              <a:rPr lang="pt-PT" dirty="0" err="1"/>
              <a:t>çã</a:t>
            </a:r>
            <a:r>
              <a:rPr dirty="0"/>
              <a:t>o f</a:t>
            </a:r>
            <a:r>
              <a:rPr lang="pt-PT" dirty="0"/>
              <a:t>í</a:t>
            </a:r>
            <a:r>
              <a:rPr dirty="0" err="1"/>
              <a:t>sica</a:t>
            </a:r>
            <a:r>
              <a:rPr dirty="0"/>
              <a:t> no local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  P</a:t>
            </a:r>
            <a:r>
              <a:rPr lang="pt-PT" dirty="0"/>
              <a:t>ó</a:t>
            </a:r>
            <a:r>
              <a:rPr dirty="0"/>
              <a:t>s-</a:t>
            </a:r>
            <a:r>
              <a:rPr dirty="0" err="1"/>
              <a:t>Lan</a:t>
            </a:r>
            <a:r>
              <a:rPr lang="pt-PT" dirty="0"/>
              <a:t>ç</a:t>
            </a:r>
            <a:r>
              <a:rPr dirty="0" err="1"/>
              <a:t>amento</a:t>
            </a:r>
            <a:r>
              <a:rPr dirty="0"/>
              <a:t>: </a:t>
            </a:r>
            <a:r>
              <a:rPr lang="pt-PT" dirty="0"/>
              <a:t>aná</a:t>
            </a:r>
            <a:r>
              <a:rPr dirty="0" err="1"/>
              <a:t>lise</a:t>
            </a:r>
            <a:r>
              <a:rPr dirty="0"/>
              <a:t> dados + </a:t>
            </a:r>
            <a:r>
              <a:rPr dirty="0" err="1"/>
              <a:t>satisfa</a:t>
            </a:r>
            <a:r>
              <a:rPr lang="pt-PT" dirty="0" err="1"/>
              <a:t>çã</a:t>
            </a:r>
            <a:r>
              <a:rPr dirty="0"/>
              <a:t>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5000"/>
            </a:avLst>
          </a:prstGeom>
          <a:solidFill>
            <a:srgbClr val="00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4DC88B"/>
                </a:solidFill>
                <a:latin typeface="Calibri"/>
              </a:defRPr>
            </a:pPr>
            <a:r>
              <a:t>Oeiras Viva Desporto  |  Abril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05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A651"/>
                </a:solidFill>
                <a:latin typeface="Calibri"/>
              </a:defRPr>
            </a:pPr>
            <a:r>
              <a:rPr dirty="0"/>
              <a:t>MILESTONE 3  |  PLANO ESTRAT</a:t>
            </a:r>
            <a:r>
              <a:rPr lang="pt-PT" dirty="0"/>
              <a:t>É</a:t>
            </a:r>
            <a:r>
              <a:rPr dirty="0"/>
              <a:t>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B6F"/>
                </a:solidFill>
                <a:latin typeface="Calibri"/>
              </a:defRPr>
            </a:pPr>
            <a:r>
              <a:t>OKRs - Objectives &amp; Key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58595B"/>
                </a:solidFill>
                <a:latin typeface="Calibri"/>
              </a:defRPr>
            </a:pPr>
            <a:r>
              <a:rPr dirty="0"/>
              <a:t>5 </a:t>
            </a:r>
            <a:r>
              <a:rPr lang="pt-PT" dirty="0"/>
              <a:t>á</a:t>
            </a:r>
            <a:r>
              <a:rPr dirty="0" err="1"/>
              <a:t>reas</a:t>
            </a:r>
            <a:r>
              <a:rPr dirty="0"/>
              <a:t> de </a:t>
            </a:r>
            <a:r>
              <a:rPr dirty="0" err="1"/>
              <a:t>impacto</a:t>
            </a:r>
            <a:r>
              <a:rPr dirty="0"/>
              <a:t> com </a:t>
            </a:r>
            <a:r>
              <a:rPr dirty="0" err="1"/>
              <a:t>objetivos</a:t>
            </a:r>
            <a:r>
              <a:rPr dirty="0"/>
              <a:t> </a:t>
            </a:r>
            <a:r>
              <a:rPr dirty="0" err="1"/>
              <a:t>estrat</a:t>
            </a:r>
            <a:r>
              <a:rPr lang="pt-PT" dirty="0"/>
              <a:t>é</a:t>
            </a:r>
            <a:r>
              <a:rPr dirty="0" err="1"/>
              <a:t>gicos</a:t>
            </a:r>
            <a:r>
              <a:rPr dirty="0"/>
              <a:t> e </a:t>
            </a:r>
            <a:r>
              <a:rPr dirty="0" err="1"/>
              <a:t>operacionais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31520" y="1741279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3474720" cy="54864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2029968"/>
            <a:ext cx="1463040" cy="256032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1463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Sa</a:t>
            </a:r>
            <a:r>
              <a:rPr lang="pt-PT" dirty="0"/>
              <a:t>ú</a:t>
            </a:r>
            <a:r>
              <a:rPr dirty="0"/>
              <a:t>de P</a:t>
            </a:r>
            <a:r>
              <a:rPr lang="pt-PT" dirty="0"/>
              <a:t>ú</a:t>
            </a:r>
            <a:r>
              <a:rPr dirty="0" err="1"/>
              <a:t>blica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3291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Incentivar</a:t>
            </a:r>
            <a:r>
              <a:rPr dirty="0"/>
              <a:t> </a:t>
            </a:r>
            <a:r>
              <a:rPr dirty="0" err="1"/>
              <a:t>pr</a:t>
            </a:r>
            <a:r>
              <a:rPr lang="pt-PT" dirty="0"/>
              <a:t>á</a:t>
            </a:r>
            <a:r>
              <a:rPr dirty="0" err="1"/>
              <a:t>tica</a:t>
            </a:r>
            <a:r>
              <a:rPr dirty="0"/>
              <a:t> regular e </a:t>
            </a:r>
            <a:r>
              <a:rPr dirty="0" err="1"/>
              <a:t>reduzir</a:t>
            </a:r>
            <a:r>
              <a:rPr dirty="0"/>
              <a:t> </a:t>
            </a:r>
            <a:r>
              <a:rPr dirty="0" err="1"/>
              <a:t>sedentarismo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" y="2743200"/>
            <a:ext cx="345046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Reduzir</a:t>
            </a:r>
            <a:r>
              <a:rPr dirty="0"/>
              <a:t> % </a:t>
            </a:r>
            <a:r>
              <a:rPr dirty="0" err="1"/>
              <a:t>residentes</a:t>
            </a:r>
            <a:r>
              <a:rPr dirty="0"/>
              <a:t> </a:t>
            </a:r>
            <a:r>
              <a:rPr dirty="0" err="1"/>
              <a:t>inativos</a:t>
            </a:r>
            <a:endParaRPr dirty="0"/>
          </a:p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Aumentar</a:t>
            </a:r>
            <a:r>
              <a:rPr dirty="0"/>
              <a:t> </a:t>
            </a:r>
            <a:r>
              <a:rPr dirty="0" err="1"/>
              <a:t>ades</a:t>
            </a:r>
            <a:r>
              <a:rPr lang="pt-PT" dirty="0" err="1"/>
              <a:t>ão</a:t>
            </a:r>
            <a:r>
              <a:rPr dirty="0"/>
              <a:t> a </a:t>
            </a:r>
            <a:r>
              <a:rPr dirty="0" err="1"/>
              <a:t>programas</a:t>
            </a:r>
            <a:r>
              <a:rPr dirty="0"/>
              <a:t> </a:t>
            </a:r>
            <a:r>
              <a:rPr dirty="0" err="1"/>
              <a:t>municipais</a:t>
            </a:r>
            <a:endParaRPr dirty="0"/>
          </a:p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Integrar</a:t>
            </a:r>
            <a:r>
              <a:rPr dirty="0"/>
              <a:t> </a:t>
            </a:r>
            <a:r>
              <a:rPr dirty="0" err="1"/>
              <a:t>sa</a:t>
            </a:r>
            <a:r>
              <a:rPr lang="pt-PT" dirty="0"/>
              <a:t>ú</a:t>
            </a:r>
            <a:r>
              <a:rPr dirty="0"/>
              <a:t>de, a</a:t>
            </a:r>
            <a:r>
              <a:rPr lang="pt-PT" dirty="0" err="1"/>
              <a:t>çã</a:t>
            </a:r>
            <a:r>
              <a:rPr dirty="0"/>
              <a:t>o social e </a:t>
            </a:r>
            <a:r>
              <a:rPr dirty="0" err="1"/>
              <a:t>desporto</a:t>
            </a:r>
            <a:endParaRPr dirty="0"/>
          </a:p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Aumentar pr</a:t>
            </a:r>
            <a:r>
              <a:rPr lang="pt-PT" dirty="0"/>
              <a:t>á</a:t>
            </a:r>
            <a:r>
              <a:rPr dirty="0" err="1"/>
              <a:t>tica</a:t>
            </a:r>
            <a:r>
              <a:rPr dirty="0"/>
              <a:t> </a:t>
            </a:r>
            <a:r>
              <a:rPr dirty="0" err="1"/>
              <a:t>recorrente</a:t>
            </a:r>
            <a:r>
              <a:rPr dirty="0"/>
              <a:t> (n</a:t>
            </a:r>
            <a:r>
              <a:rPr lang="pt-PT" dirty="0" err="1"/>
              <a:t>ão</a:t>
            </a:r>
            <a:r>
              <a:rPr dirty="0"/>
              <a:t> </a:t>
            </a:r>
            <a:r>
              <a:rPr dirty="0" err="1"/>
              <a:t>pontual</a:t>
            </a:r>
            <a:r>
              <a:rPr dirty="0"/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741279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80559" y="1920240"/>
            <a:ext cx="3474720" cy="54864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1999" y="2029968"/>
            <a:ext cx="1463040" cy="256032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1999" y="20116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Social e Desporto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331720"/>
            <a:ext cx="3291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Participa</a:t>
            </a:r>
            <a:r>
              <a:rPr lang="pt-PT" dirty="0" err="1"/>
              <a:t>ção</a:t>
            </a:r>
            <a:r>
              <a:rPr dirty="0"/>
              <a:t> </a:t>
            </a:r>
            <a:r>
              <a:rPr dirty="0" err="1"/>
              <a:t>equilibrada</a:t>
            </a:r>
            <a:r>
              <a:rPr dirty="0"/>
              <a:t> dos p</a:t>
            </a:r>
            <a:r>
              <a:rPr lang="pt-PT" dirty="0"/>
              <a:t>ú</a:t>
            </a:r>
            <a:r>
              <a:rPr dirty="0" err="1"/>
              <a:t>blicos</a:t>
            </a:r>
            <a:r>
              <a:rPr dirty="0"/>
              <a:t> sub-</a:t>
            </a:r>
            <a:r>
              <a:rPr dirty="0" err="1"/>
              <a:t>representados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4571999" y="2743200"/>
            <a:ext cx="338328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coeso</a:t>
            </a:r>
            <a:r>
              <a:rPr dirty="0"/>
              <a:t> para senior</a:t>
            </a:r>
            <a:r>
              <a:rPr lang="pt-PT" dirty="0"/>
              <a:t>e</a:t>
            </a:r>
            <a:r>
              <a:rPr dirty="0"/>
              <a:t>s e </a:t>
            </a:r>
            <a:r>
              <a:rPr lang="pt-PT" dirty="0"/>
              <a:t>pessoas com necessidades</a:t>
            </a:r>
            <a:r>
              <a:rPr dirty="0"/>
              <a:t> </a:t>
            </a:r>
            <a:r>
              <a:rPr dirty="0" err="1"/>
              <a:t>especiais</a:t>
            </a:r>
            <a:endParaRPr dirty="0"/>
          </a:p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Aumentar</a:t>
            </a:r>
            <a:r>
              <a:rPr dirty="0"/>
              <a:t> </a:t>
            </a:r>
            <a:r>
              <a:rPr dirty="0" err="1"/>
              <a:t>presen</a:t>
            </a:r>
            <a:r>
              <a:rPr lang="pt-PT" dirty="0"/>
              <a:t>ç</a:t>
            </a:r>
            <a:r>
              <a:rPr dirty="0"/>
              <a:t>a </a:t>
            </a:r>
            <a:r>
              <a:rPr dirty="0" err="1"/>
              <a:t>feminina</a:t>
            </a:r>
            <a:endParaRPr dirty="0"/>
          </a:p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Melhorar</a:t>
            </a:r>
            <a:r>
              <a:rPr dirty="0"/>
              <a:t> </a:t>
            </a:r>
            <a:r>
              <a:rPr dirty="0" err="1"/>
              <a:t>liga</a:t>
            </a:r>
            <a:r>
              <a:rPr lang="pt-PT" dirty="0" err="1"/>
              <a:t>çã</a:t>
            </a:r>
            <a:r>
              <a:rPr dirty="0"/>
              <a:t>o </a:t>
            </a:r>
            <a:r>
              <a:rPr lang="pt-PT" dirty="0"/>
              <a:t>com clubes e outras entidades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8229599" y="1920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599" y="1920240"/>
            <a:ext cx="3474720" cy="54864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39" y="2029968"/>
            <a:ext cx="1463040" cy="256032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39" y="2011680"/>
            <a:ext cx="1463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Socioecon</a:t>
            </a:r>
            <a:r>
              <a:rPr lang="pt-PT" dirty="0"/>
              <a:t>ó</a:t>
            </a:r>
            <a:r>
              <a:rPr dirty="0" err="1"/>
              <a:t>mico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321039" y="2331720"/>
            <a:ext cx="3291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Ecossistema</a:t>
            </a:r>
            <a:r>
              <a:rPr dirty="0"/>
              <a:t> </a:t>
            </a:r>
            <a:r>
              <a:rPr dirty="0" err="1"/>
              <a:t>desportivo</a:t>
            </a:r>
            <a:r>
              <a:rPr dirty="0"/>
              <a:t> </a:t>
            </a:r>
            <a:r>
              <a:rPr dirty="0" err="1"/>
              <a:t>sustent</a:t>
            </a:r>
            <a:r>
              <a:rPr lang="pt-PT" dirty="0" err="1"/>
              <a:t>áv</a:t>
            </a:r>
            <a:r>
              <a:rPr dirty="0"/>
              <a:t>el </a:t>
            </a:r>
            <a:r>
              <a:rPr dirty="0" err="1"/>
              <a:t>financeiramente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8321039" y="2743200"/>
            <a:ext cx="338328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Captar</a:t>
            </a:r>
            <a:r>
              <a:rPr dirty="0"/>
              <a:t> </a:t>
            </a:r>
            <a:r>
              <a:rPr dirty="0" err="1"/>
              <a:t>parceiros</a:t>
            </a:r>
            <a:r>
              <a:rPr dirty="0"/>
              <a:t> </a:t>
            </a:r>
            <a:r>
              <a:rPr dirty="0" err="1"/>
              <a:t>privados</a:t>
            </a:r>
            <a:r>
              <a:rPr dirty="0"/>
              <a:t> e </a:t>
            </a:r>
            <a:r>
              <a:rPr dirty="0" err="1"/>
              <a:t>patrocinadores</a:t>
            </a:r>
            <a:endParaRPr dirty="0"/>
          </a:p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Divulga</a:t>
            </a:r>
            <a:r>
              <a:rPr lang="pt-PT" dirty="0" err="1"/>
              <a:t>çã</a:t>
            </a:r>
            <a:r>
              <a:rPr dirty="0"/>
              <a:t>o </a:t>
            </a:r>
            <a:r>
              <a:rPr dirty="0" err="1"/>
              <a:t>simbi</a:t>
            </a:r>
            <a:r>
              <a:rPr lang="pt-PT" dirty="0"/>
              <a:t>ó</a:t>
            </a:r>
            <a:r>
              <a:rPr dirty="0" err="1"/>
              <a:t>tica</a:t>
            </a:r>
            <a:r>
              <a:rPr dirty="0"/>
              <a:t> com </a:t>
            </a:r>
            <a:r>
              <a:rPr dirty="0" err="1"/>
              <a:t>parceiros</a:t>
            </a:r>
            <a:r>
              <a:rPr dirty="0"/>
              <a:t> </a:t>
            </a:r>
            <a:r>
              <a:rPr dirty="0" err="1"/>
              <a:t>locais</a:t>
            </a:r>
            <a:endParaRPr dirty="0"/>
          </a:p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Diversificar</a:t>
            </a:r>
            <a:r>
              <a:rPr dirty="0"/>
              <a:t> </a:t>
            </a:r>
            <a:r>
              <a:rPr dirty="0" err="1"/>
              <a:t>oferta</a:t>
            </a:r>
            <a:r>
              <a:rPr dirty="0"/>
              <a:t> de </a:t>
            </a:r>
            <a:r>
              <a:rPr dirty="0" err="1"/>
              <a:t>atividades</a:t>
            </a:r>
            <a:endParaRPr dirty="0"/>
          </a:p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Melhorar</a:t>
            </a:r>
            <a:r>
              <a:rPr dirty="0"/>
              <a:t> </a:t>
            </a:r>
            <a:r>
              <a:rPr dirty="0" err="1"/>
              <a:t>efici</a:t>
            </a:r>
            <a:r>
              <a:rPr lang="pt-PT" dirty="0"/>
              <a:t>ê</a:t>
            </a:r>
            <a:r>
              <a:rPr dirty="0" err="1"/>
              <a:t>ncia</a:t>
            </a:r>
            <a:r>
              <a:rPr dirty="0"/>
              <a:t> de </a:t>
            </a:r>
            <a:r>
              <a:rPr dirty="0" err="1"/>
              <a:t>ocupa</a:t>
            </a:r>
            <a:r>
              <a:rPr lang="pt-PT" dirty="0" err="1"/>
              <a:t>ção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762311" y="4127405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" y="4343400"/>
            <a:ext cx="3474720" cy="54864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22960" y="4453128"/>
            <a:ext cx="1463040" cy="256032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434840"/>
            <a:ext cx="1463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Inova</a:t>
            </a:r>
            <a:r>
              <a:rPr lang="pt-PT" dirty="0" err="1"/>
              <a:t>çã</a:t>
            </a:r>
            <a:r>
              <a:rPr dirty="0"/>
              <a:t>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54880"/>
            <a:ext cx="3291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Tecnologia</a:t>
            </a:r>
            <a:r>
              <a:rPr dirty="0"/>
              <a:t> e dados </a:t>
            </a:r>
            <a:r>
              <a:rPr dirty="0" err="1"/>
              <a:t>para</a:t>
            </a:r>
            <a:r>
              <a:rPr dirty="0"/>
              <a:t> </a:t>
            </a:r>
            <a:r>
              <a:rPr dirty="0" err="1"/>
              <a:t>decis</a:t>
            </a:r>
            <a:r>
              <a:rPr lang="pt-PT" dirty="0"/>
              <a:t>ã</a:t>
            </a:r>
            <a:r>
              <a:rPr dirty="0"/>
              <a:t>o p</a:t>
            </a:r>
            <a:r>
              <a:rPr lang="pt-PT" dirty="0"/>
              <a:t>ú</a:t>
            </a:r>
            <a:r>
              <a:rPr dirty="0" err="1"/>
              <a:t>blica</a:t>
            </a:r>
            <a:r>
              <a:rPr dirty="0"/>
              <a:t> e engagement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311" y="5290914"/>
            <a:ext cx="3571758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Sistema </a:t>
            </a:r>
            <a:r>
              <a:rPr dirty="0" err="1"/>
              <a:t>omnicanal</a:t>
            </a:r>
            <a:r>
              <a:rPr lang="pt-PT" dirty="0"/>
              <a:t> como</a:t>
            </a:r>
            <a:r>
              <a:rPr dirty="0"/>
              <a:t> porta de entrada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Datasets </a:t>
            </a:r>
            <a:r>
              <a:rPr dirty="0" err="1"/>
              <a:t>coerentes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perfis</a:t>
            </a:r>
            <a:r>
              <a:rPr dirty="0"/>
              <a:t> de </a:t>
            </a:r>
            <a:r>
              <a:rPr dirty="0" err="1"/>
              <a:t>utilizador</a:t>
            </a:r>
            <a:endParaRPr dirty="0"/>
          </a:p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Analytics </a:t>
            </a:r>
            <a:r>
              <a:rPr dirty="0" err="1"/>
              <a:t>para</a:t>
            </a:r>
            <a:r>
              <a:rPr dirty="0"/>
              <a:t> </a:t>
            </a:r>
            <a:r>
              <a:rPr dirty="0" err="1"/>
              <a:t>segmenta</a:t>
            </a:r>
            <a:r>
              <a:rPr lang="pt-PT" dirty="0" err="1"/>
              <a:t>çã</a:t>
            </a:r>
            <a:r>
              <a:rPr dirty="0"/>
              <a:t>o e performance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Personaliza</a:t>
            </a:r>
            <a:r>
              <a:rPr lang="pt-PT" dirty="0" err="1"/>
              <a:t>ção</a:t>
            </a:r>
            <a:r>
              <a:rPr dirty="0"/>
              <a:t> de </a:t>
            </a:r>
            <a:r>
              <a:rPr dirty="0" err="1"/>
              <a:t>recomendac</a:t>
            </a:r>
            <a:r>
              <a:rPr lang="pt-PT" dirty="0"/>
              <a:t>õ</a:t>
            </a:r>
            <a:r>
              <a:rPr dirty="0" err="1"/>
              <a:t>es</a:t>
            </a:r>
            <a:endParaRPr dirty="0"/>
          </a:p>
        </p:txBody>
      </p:sp>
      <p:sp>
        <p:nvSpPr>
          <p:cNvPr id="32" name="Rounded Rectangle 31"/>
          <p:cNvSpPr/>
          <p:nvPr/>
        </p:nvSpPr>
        <p:spPr>
          <a:xfrm>
            <a:off x="4480559" y="41148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480559" y="4343400"/>
            <a:ext cx="3474720" cy="54864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571999" y="4453128"/>
            <a:ext cx="1463040" cy="256032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1999" y="44348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Acessibilidade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1999" y="4754880"/>
            <a:ext cx="3291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omnicanal</a:t>
            </a:r>
            <a:r>
              <a:rPr dirty="0"/>
              <a:t>, econ</a:t>
            </a:r>
            <a:r>
              <a:rPr lang="pt-PT" dirty="0"/>
              <a:t>ó</a:t>
            </a:r>
            <a:r>
              <a:rPr dirty="0" err="1"/>
              <a:t>mico</a:t>
            </a:r>
            <a:r>
              <a:rPr dirty="0"/>
              <a:t>, territorial e </a:t>
            </a:r>
            <a:r>
              <a:rPr dirty="0" err="1"/>
              <a:t>funcional</a:t>
            </a: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4571999" y="5166360"/>
            <a:ext cx="3291840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Comunica</a:t>
            </a:r>
            <a:r>
              <a:rPr lang="pt-PT" dirty="0" err="1"/>
              <a:t>ção</a:t>
            </a:r>
            <a:r>
              <a:rPr dirty="0"/>
              <a:t> </a:t>
            </a:r>
            <a:r>
              <a:rPr dirty="0" err="1"/>
              <a:t>efetiva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ambos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canais</a:t>
            </a:r>
            <a:endParaRPr dirty="0"/>
          </a:p>
          <a:p>
            <a:pPr algn="l">
              <a:spcAft>
                <a:spcPts val="200"/>
              </a:spcAft>
              <a:defRPr sz="1400" b="0">
                <a:solidFill>
                  <a:srgbClr val="58595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Reduzir</a:t>
            </a:r>
            <a:r>
              <a:rPr dirty="0"/>
              <a:t> </a:t>
            </a:r>
            <a:r>
              <a:rPr dirty="0" err="1"/>
              <a:t>atrito</a:t>
            </a:r>
            <a:r>
              <a:rPr dirty="0"/>
              <a:t> </a:t>
            </a:r>
            <a:r>
              <a:rPr dirty="0" err="1"/>
              <a:t>para</a:t>
            </a:r>
            <a:r>
              <a:rPr dirty="0"/>
              <a:t>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literacia</a:t>
            </a:r>
            <a:r>
              <a:rPr dirty="0"/>
              <a:t> digital</a:t>
            </a:r>
          </a:p>
        </p:txBody>
      </p:sp>
    </p:spTree>
    <p:extLst>
      <p:ext uri="{BB962C8B-B14F-4D97-AF65-F5344CB8AC3E}">
        <p14:creationId xmlns:p14="http://schemas.microsoft.com/office/powerpoint/2010/main" val="1567842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5000"/>
            </a:avLst>
          </a:prstGeom>
          <a:solidFill>
            <a:srgbClr val="00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4DC88B"/>
                </a:solidFill>
                <a:latin typeface="Calibri"/>
              </a:defRPr>
            </a:pPr>
            <a:r>
              <a:t>Oeiras Viva Desporto  |  Abril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A651"/>
                </a:solidFill>
                <a:latin typeface="Calibri"/>
              </a:defRPr>
            </a:pPr>
            <a:r>
              <a:t>MILESTONE 3  | 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B6F"/>
                </a:solidFill>
                <a:latin typeface="Calibri"/>
              </a:defRPr>
            </a:pPr>
            <a:r>
              <a:t>KPIs - Metas 2027-2030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58595B"/>
                </a:solidFill>
                <a:latin typeface="Calibri"/>
              </a:defRPr>
            </a:pPr>
            <a:r>
              <a:t>Indicadores-chave com metas anuais progressivas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19072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3566160" cy="54864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Sa</a:t>
            </a:r>
            <a:r>
              <a:rPr lang="pt-PT" dirty="0"/>
              <a:t>ú</a:t>
            </a:r>
            <a:r>
              <a:rPr dirty="0"/>
              <a:t>de P</a:t>
            </a:r>
            <a:r>
              <a:rPr lang="pt-PT" dirty="0"/>
              <a:t>ú</a:t>
            </a:r>
            <a:r>
              <a:rPr dirty="0" err="1"/>
              <a:t>blica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48640" y="23042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B6F"/>
                </a:solidFill>
                <a:latin typeface="Calibri"/>
              </a:defRPr>
            </a:pPr>
            <a:r>
              <a:t>KPI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304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3B6F"/>
                </a:solidFill>
                <a:latin typeface="Calibri"/>
              </a:defRPr>
            </a:pPr>
            <a:r>
              <a:t>Meta 27&gt;30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30428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3B6F"/>
                </a:solidFill>
                <a:latin typeface="Calibri"/>
              </a:defRPr>
            </a:pPr>
            <a:r>
              <a:t>Ritmo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42032"/>
            <a:ext cx="3474720" cy="256032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39" y="2542032"/>
            <a:ext cx="23905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rPr dirty="0"/>
              <a:t>% </a:t>
            </a:r>
            <a:r>
              <a:rPr dirty="0" err="1"/>
              <a:t>residentes</a:t>
            </a:r>
            <a:r>
              <a:rPr dirty="0"/>
              <a:t> </a:t>
            </a:r>
            <a:r>
              <a:rPr dirty="0" err="1"/>
              <a:t>inativos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920240" y="25420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25% &gt; 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5420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3B6F"/>
                </a:solidFill>
                <a:latin typeface="Calibri"/>
              </a:defRPr>
            </a:pPr>
            <a:r>
              <a:t>-10%/ano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16352"/>
            <a:ext cx="3474720" cy="25603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39" y="2816352"/>
            <a:ext cx="18493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t>Inscritos em programas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8163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21K &gt; 28K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28163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3B6F"/>
                </a:solidFill>
                <a:latin typeface="Calibri"/>
              </a:defRPr>
            </a:pPr>
            <a:r>
              <a:t>+10%/ano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90672"/>
            <a:ext cx="3474720" cy="256032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090672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rPr dirty="0" err="1"/>
              <a:t>Ocupa</a:t>
            </a:r>
            <a:r>
              <a:rPr lang="pt-PT" dirty="0" err="1"/>
              <a:t>ção</a:t>
            </a:r>
            <a:r>
              <a:rPr dirty="0"/>
              <a:t> </a:t>
            </a:r>
            <a:r>
              <a:rPr dirty="0" err="1"/>
              <a:t>eventos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1920240" y="30906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85% &gt; 97%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30906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3B6F"/>
                </a:solidFill>
                <a:latin typeface="Calibri"/>
              </a:defRPr>
            </a:pPr>
            <a:r>
              <a:t>+3%/ano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364991"/>
            <a:ext cx="3474720" cy="25603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364991"/>
            <a:ext cx="1691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rPr dirty="0" err="1"/>
              <a:t>Reten</a:t>
            </a:r>
            <a:r>
              <a:rPr lang="pt-PT" dirty="0" err="1"/>
              <a:t>ção</a:t>
            </a:r>
            <a:r>
              <a:rPr lang="pt-PT" dirty="0"/>
              <a:t> </a:t>
            </a:r>
            <a:r>
              <a:rPr dirty="0" err="1"/>
              <a:t>plataforma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1920240" y="336499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50% &gt; 65%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336499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3B6F"/>
                </a:solidFill>
                <a:latin typeface="Calibri"/>
              </a:defRPr>
            </a:pPr>
            <a:r>
              <a:t>+5pp/ano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639312"/>
            <a:ext cx="3474720" cy="256032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6393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t>Streaks ativas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6393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25% &gt; 40%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36393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3B6F"/>
                </a:solidFill>
                <a:latin typeface="Calibri"/>
              </a:defRPr>
            </a:pPr>
            <a:r>
              <a:t>+5pp/ano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24901" y="1719072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206240" y="1920240"/>
            <a:ext cx="3566160" cy="54864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297680" y="2011680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0" y="1993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Social &amp; Desporto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23042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B6F"/>
                </a:solidFill>
                <a:latin typeface="Calibri"/>
              </a:defRPr>
            </a:pPr>
            <a:r>
              <a:t>KPI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2304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3B6F"/>
                </a:solidFill>
                <a:latin typeface="Calibri"/>
              </a:defRPr>
            </a:pPr>
            <a:r>
              <a:t>Meta 27&gt;30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230428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3B6F"/>
                </a:solidFill>
                <a:latin typeface="Calibri"/>
              </a:defRPr>
            </a:pPr>
            <a:r>
              <a:t>Ritmo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51960" y="2542032"/>
            <a:ext cx="3474720" cy="256032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97680" y="2542032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rPr dirty="0" err="1"/>
              <a:t>Participa</a:t>
            </a:r>
            <a:r>
              <a:rPr lang="pt-PT" dirty="0" err="1"/>
              <a:t>ção</a:t>
            </a:r>
            <a:r>
              <a:rPr dirty="0"/>
              <a:t> senior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25420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30% &gt; 40%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25420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A651"/>
                </a:solidFill>
                <a:latin typeface="Calibri"/>
              </a:defRPr>
            </a:pPr>
            <a:r>
              <a:t>+10%/ano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51960" y="2816352"/>
            <a:ext cx="3474720" cy="25603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97680" y="2816352"/>
            <a:ext cx="1463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rPr dirty="0" err="1"/>
              <a:t>Participa</a:t>
            </a:r>
            <a:r>
              <a:rPr lang="pt-PT" dirty="0" err="1"/>
              <a:t>ção</a:t>
            </a:r>
            <a:r>
              <a:rPr dirty="0"/>
              <a:t> </a:t>
            </a:r>
            <a:r>
              <a:rPr dirty="0" err="1"/>
              <a:t>feminina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5669280" y="28163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40% &gt; 53%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28163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A651"/>
                </a:solidFill>
                <a:latin typeface="Calibri"/>
              </a:defRPr>
            </a:pPr>
            <a:r>
              <a:t>+10%/ano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51960" y="3090672"/>
            <a:ext cx="3474720" cy="256032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97680" y="30906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t>Nec. especiais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30906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2% &gt; 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30906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A651"/>
                </a:solidFill>
                <a:latin typeface="Calibri"/>
              </a:defRPr>
            </a:pPr>
            <a:r>
              <a:t>+1pp/ano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51960" y="3364991"/>
            <a:ext cx="3474720" cy="25603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297680" y="3364991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acess</a:t>
            </a:r>
            <a:r>
              <a:rPr lang="pt-PT" dirty="0"/>
              <a:t>í</a:t>
            </a:r>
            <a:r>
              <a:rPr dirty="0" err="1"/>
              <a:t>veis</a:t>
            </a:r>
            <a:endParaRPr dirty="0"/>
          </a:p>
        </p:txBody>
      </p:sp>
      <p:sp>
        <p:nvSpPr>
          <p:cNvPr id="56" name="TextBox 55"/>
          <p:cNvSpPr txBox="1"/>
          <p:nvPr/>
        </p:nvSpPr>
        <p:spPr>
          <a:xfrm>
            <a:off x="5669280" y="336499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60% &gt; 95%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12280" y="336499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A651"/>
                </a:solidFill>
                <a:latin typeface="Calibri"/>
              </a:defRPr>
            </a:pPr>
            <a:r>
              <a:t>+10%/ano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51960" y="3639312"/>
            <a:ext cx="3474720" cy="256032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97680" y="36393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t>Clubes integrados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0" y="36393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20% &gt; 35%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36393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A651"/>
                </a:solidFill>
                <a:latin typeface="Calibri"/>
              </a:defRPr>
            </a:pPr>
            <a:r>
              <a:t>+5pp/ano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929152" y="1722431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7955279" y="1920240"/>
            <a:ext cx="3566160" cy="54864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046719" y="2011680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046719" y="1993392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Socioecon</a:t>
            </a:r>
            <a:r>
              <a:rPr lang="pt-PT" dirty="0"/>
              <a:t>ó</a:t>
            </a:r>
            <a:r>
              <a:rPr dirty="0" err="1"/>
              <a:t>mico</a:t>
            </a:r>
            <a:endParaRPr dirty="0"/>
          </a:p>
        </p:txBody>
      </p:sp>
      <p:sp>
        <p:nvSpPr>
          <p:cNvPr id="66" name="TextBox 65"/>
          <p:cNvSpPr txBox="1"/>
          <p:nvPr/>
        </p:nvSpPr>
        <p:spPr>
          <a:xfrm>
            <a:off x="8046719" y="23042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B6F"/>
                </a:solidFill>
                <a:latin typeface="Calibri"/>
              </a:defRPr>
            </a:pPr>
            <a:r>
              <a:t>KPI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18319" y="2304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3B6F"/>
                </a:solidFill>
                <a:latin typeface="Calibri"/>
              </a:defRPr>
            </a:pPr>
            <a:r>
              <a:t>Meta 27&gt;30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61319" y="230428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3B6F"/>
                </a:solidFill>
                <a:latin typeface="Calibri"/>
              </a:defRPr>
            </a:pPr>
            <a:r>
              <a:t>Ritmo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00999" y="2542032"/>
            <a:ext cx="3474720" cy="256032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046719" y="25420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t>Parceiros privados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18319" y="25420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8 &gt; 14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61319" y="25420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58220"/>
                </a:solidFill>
                <a:latin typeface="Calibri"/>
              </a:defRPr>
            </a:pPr>
            <a:r>
              <a:t>+2/ano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00999" y="2816352"/>
            <a:ext cx="3474720" cy="25603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046719" y="28163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t>Parceiros locais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18319" y="28163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20 &gt; 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61319" y="28163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58220"/>
                </a:solidFill>
                <a:latin typeface="Calibri"/>
              </a:defRPr>
            </a:pPr>
            <a:r>
              <a:t>+10/ano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000999" y="3090672"/>
            <a:ext cx="3474720" cy="256032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046719" y="30906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t>Receita/evento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18319" y="30906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6K &gt; 9K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61319" y="30906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58220"/>
                </a:solidFill>
                <a:latin typeface="Calibri"/>
              </a:defRPr>
            </a:pPr>
            <a:r>
              <a:t>+1K/ano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000999" y="3364991"/>
            <a:ext cx="3474720" cy="25603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046719" y="3364991"/>
            <a:ext cx="1843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rPr dirty="0" err="1"/>
              <a:t>Custo</a:t>
            </a:r>
            <a:r>
              <a:rPr dirty="0"/>
              <a:t>/</a:t>
            </a:r>
            <a:r>
              <a:rPr dirty="0" err="1"/>
              <a:t>utilizador</a:t>
            </a:r>
            <a:r>
              <a:rPr dirty="0"/>
              <a:t> </a:t>
            </a:r>
            <a:r>
              <a:rPr dirty="0" err="1"/>
              <a:t>ativo</a:t>
            </a:r>
            <a:endParaRPr dirty="0"/>
          </a:p>
        </p:txBody>
      </p:sp>
      <p:sp>
        <p:nvSpPr>
          <p:cNvPr id="83" name="TextBox 82"/>
          <p:cNvSpPr txBox="1"/>
          <p:nvPr/>
        </p:nvSpPr>
        <p:spPr>
          <a:xfrm>
            <a:off x="9418319" y="336499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18 &gt; 13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61319" y="336499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58220"/>
                </a:solidFill>
                <a:latin typeface="Calibri"/>
              </a:defRPr>
            </a:pPr>
            <a:r>
              <a:t>-10%/ano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929152" y="3639311"/>
            <a:ext cx="3546567" cy="277679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046719" y="3639312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rPr dirty="0" err="1"/>
              <a:t>Recompensas</a:t>
            </a:r>
            <a:r>
              <a:rPr dirty="0"/>
              <a:t> </a:t>
            </a:r>
            <a:r>
              <a:rPr dirty="0" err="1"/>
              <a:t>parceiros</a:t>
            </a:r>
            <a:endParaRPr dirty="0"/>
          </a:p>
        </p:txBody>
      </p:sp>
      <p:sp>
        <p:nvSpPr>
          <p:cNvPr id="87" name="TextBox 86"/>
          <p:cNvSpPr txBox="1"/>
          <p:nvPr/>
        </p:nvSpPr>
        <p:spPr>
          <a:xfrm>
            <a:off x="9418319" y="36393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35% &gt; 65%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61319" y="36393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58220"/>
                </a:solidFill>
                <a:latin typeface="Calibri"/>
              </a:defRPr>
            </a:pPr>
            <a:r>
              <a:t>+10pp/ano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797076" y="4096512"/>
            <a:ext cx="356616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1797076" y="4096512"/>
            <a:ext cx="3566160" cy="54864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1888516" y="4187952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888516" y="4169664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Inova</a:t>
            </a:r>
            <a:r>
              <a:rPr lang="pt-PT" dirty="0" err="1"/>
              <a:t>ção</a:t>
            </a:r>
            <a:endParaRPr dirty="0"/>
          </a:p>
        </p:txBody>
      </p:sp>
      <p:sp>
        <p:nvSpPr>
          <p:cNvPr id="93" name="TextBox 92"/>
          <p:cNvSpPr txBox="1"/>
          <p:nvPr/>
        </p:nvSpPr>
        <p:spPr>
          <a:xfrm>
            <a:off x="1888516" y="44805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B6F"/>
                </a:solidFill>
                <a:latin typeface="Calibri"/>
              </a:defRPr>
            </a:pPr>
            <a:r>
              <a:t>KPI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60116" y="44805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3B6F"/>
                </a:solidFill>
                <a:latin typeface="Calibri"/>
              </a:defRPr>
            </a:pPr>
            <a:r>
              <a:t>Meta 27&gt;30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03116" y="448056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3B6F"/>
                </a:solidFill>
                <a:latin typeface="Calibri"/>
              </a:defRPr>
            </a:pPr>
            <a:r>
              <a:t>Ritmo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842796" y="4718304"/>
            <a:ext cx="3474720" cy="256032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888515" y="4718304"/>
            <a:ext cx="22449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rPr dirty="0" err="1"/>
              <a:t>Utilizadores</a:t>
            </a:r>
            <a:r>
              <a:rPr dirty="0"/>
              <a:t> </a:t>
            </a:r>
            <a:r>
              <a:rPr dirty="0" err="1"/>
              <a:t>plataforma</a:t>
            </a:r>
            <a:endParaRPr dirty="0"/>
          </a:p>
        </p:txBody>
      </p:sp>
      <p:sp>
        <p:nvSpPr>
          <p:cNvPr id="98" name="TextBox 97"/>
          <p:cNvSpPr txBox="1"/>
          <p:nvPr/>
        </p:nvSpPr>
        <p:spPr>
          <a:xfrm>
            <a:off x="3260116" y="47183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500 &gt; 4000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03116" y="47183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3B6F"/>
                </a:solidFill>
                <a:latin typeface="Calibri"/>
              </a:defRPr>
            </a:pPr>
            <a:r>
              <a:t>dobro/ano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842796" y="4992624"/>
            <a:ext cx="3474720" cy="25603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888516" y="4992624"/>
            <a:ext cx="23177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rPr dirty="0" err="1"/>
              <a:t>Utilizadores</a:t>
            </a:r>
            <a:r>
              <a:rPr dirty="0"/>
              <a:t> </a:t>
            </a:r>
            <a:r>
              <a:rPr dirty="0" err="1"/>
              <a:t>Passaporte</a:t>
            </a:r>
            <a:r>
              <a:rPr dirty="0"/>
              <a:t>+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60116" y="49926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250 &gt; 2000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403116" y="49926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3B6F"/>
                </a:solidFill>
                <a:latin typeface="Calibri"/>
              </a:defRPr>
            </a:pPr>
            <a:r>
              <a:t>dobro/ano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842796" y="5266944"/>
            <a:ext cx="3474720" cy="256032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888516" y="5266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rPr dirty="0" err="1"/>
              <a:t>Oferta</a:t>
            </a:r>
            <a:r>
              <a:rPr dirty="0"/>
              <a:t> </a:t>
            </a:r>
            <a:r>
              <a:rPr dirty="0" err="1"/>
              <a:t>integrada</a:t>
            </a:r>
            <a:endParaRPr dirty="0"/>
          </a:p>
        </p:txBody>
      </p:sp>
      <p:sp>
        <p:nvSpPr>
          <p:cNvPr id="106" name="TextBox 105"/>
          <p:cNvSpPr txBox="1"/>
          <p:nvPr/>
        </p:nvSpPr>
        <p:spPr>
          <a:xfrm>
            <a:off x="3260116" y="52669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35% &gt; 65%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03116" y="52669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3B6F"/>
                </a:solidFill>
                <a:latin typeface="Calibri"/>
              </a:defRPr>
            </a:pPr>
            <a:r>
              <a:t>+10pp/ano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842796" y="5541263"/>
            <a:ext cx="3474720" cy="25603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888516" y="5541263"/>
            <a:ext cx="15862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rPr dirty="0"/>
              <a:t>Tempo m</a:t>
            </a:r>
            <a:r>
              <a:rPr lang="pt-PT" dirty="0"/>
              <a:t>é</a:t>
            </a:r>
            <a:r>
              <a:rPr dirty="0" err="1"/>
              <a:t>dio</a:t>
            </a:r>
            <a:r>
              <a:rPr dirty="0"/>
              <a:t> </a:t>
            </a:r>
            <a:r>
              <a:rPr dirty="0" err="1"/>
              <a:t>reserva</a:t>
            </a:r>
            <a:endParaRPr dirty="0"/>
          </a:p>
        </p:txBody>
      </p:sp>
      <p:sp>
        <p:nvSpPr>
          <p:cNvPr id="110" name="TextBox 109"/>
          <p:cNvSpPr txBox="1"/>
          <p:nvPr/>
        </p:nvSpPr>
        <p:spPr>
          <a:xfrm>
            <a:off x="3260116" y="5541263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4 &gt; 2.5 min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403116" y="5541263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3B6F"/>
                </a:solidFill>
                <a:latin typeface="Calibri"/>
              </a:defRPr>
            </a:pPr>
            <a:r>
              <a:t>-15%/ano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842796" y="5815584"/>
            <a:ext cx="3474720" cy="256032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888516" y="5815584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rPr dirty="0"/>
              <a:t>Taxa </a:t>
            </a:r>
            <a:r>
              <a:rPr dirty="0" err="1"/>
              <a:t>personaliza</a:t>
            </a:r>
            <a:r>
              <a:rPr lang="pt-PT" dirty="0" err="1"/>
              <a:t>çã</a:t>
            </a:r>
            <a:r>
              <a:rPr dirty="0"/>
              <a:t>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60116" y="58155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20% &gt; 80%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403116" y="5815584"/>
            <a:ext cx="960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progressivo</a:t>
            </a:r>
            <a:endParaRPr dirty="0"/>
          </a:p>
        </p:txBody>
      </p:sp>
      <p:sp>
        <p:nvSpPr>
          <p:cNvPr id="116" name="Rounded Rectangle 115"/>
          <p:cNvSpPr/>
          <p:nvPr/>
        </p:nvSpPr>
        <p:spPr>
          <a:xfrm>
            <a:off x="6035040" y="4078036"/>
            <a:ext cx="356616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6035040" y="4078036"/>
            <a:ext cx="3566160" cy="54864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6126480" y="4169476"/>
            <a:ext cx="1645920" cy="256032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126480" y="41511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Acessibilidade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26480" y="44620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B6F"/>
                </a:solidFill>
                <a:latin typeface="Calibri"/>
              </a:defRPr>
            </a:pPr>
            <a:r>
              <a:t>KPI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498080" y="446208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3B6F"/>
                </a:solidFill>
                <a:latin typeface="Calibri"/>
              </a:defRPr>
            </a:pPr>
            <a:r>
              <a:t>Meta 27&gt;30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41080" y="446208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3B6F"/>
                </a:solidFill>
                <a:latin typeface="Calibri"/>
              </a:defRPr>
            </a:pPr>
            <a:r>
              <a:t>Ritmo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080760" y="4699828"/>
            <a:ext cx="3474720" cy="256032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126480" y="4699828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rPr dirty="0"/>
              <a:t>Info p</a:t>
            </a:r>
            <a:r>
              <a:rPr lang="pt-PT" dirty="0"/>
              <a:t>ú</a:t>
            </a:r>
            <a:r>
              <a:rPr dirty="0" err="1"/>
              <a:t>blica</a:t>
            </a:r>
            <a:r>
              <a:rPr dirty="0"/>
              <a:t> </a:t>
            </a:r>
            <a:r>
              <a:rPr dirty="0" err="1"/>
              <a:t>acessib</a:t>
            </a:r>
            <a:r>
              <a:rPr dirty="0"/>
              <a:t>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98080" y="46998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70% &gt; 85%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641080" y="469982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A651"/>
                </a:solidFill>
                <a:latin typeface="Calibri"/>
              </a:defRPr>
            </a:pPr>
            <a:r>
              <a:t>+5pp/ano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080760" y="4974148"/>
            <a:ext cx="3474720" cy="25603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126480" y="4974148"/>
            <a:ext cx="1691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rPr dirty="0" err="1"/>
              <a:t>Registos</a:t>
            </a:r>
            <a:r>
              <a:rPr dirty="0"/>
              <a:t> f</a:t>
            </a:r>
            <a:r>
              <a:rPr lang="pt-PT" dirty="0"/>
              <a:t>í</a:t>
            </a:r>
            <a:r>
              <a:rPr dirty="0" err="1"/>
              <a:t>sico</a:t>
            </a:r>
            <a:r>
              <a:rPr dirty="0"/>
              <a:t>&gt;digital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498080" y="49741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200 &gt; 1600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41080" y="49741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A651"/>
                </a:solidFill>
                <a:latin typeface="Calibri"/>
              </a:defRPr>
            </a:pPr>
            <a:r>
              <a:t>dobro/ano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080760" y="5248468"/>
            <a:ext cx="3474720" cy="256032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126480" y="52484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t>Bilhetes equilibrados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498080" y="52484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60% &gt; 75%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641080" y="52484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A651"/>
                </a:solidFill>
                <a:latin typeface="Calibri"/>
              </a:defRPr>
            </a:pPr>
            <a:r>
              <a:t>+5pp/ano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080760" y="5522787"/>
            <a:ext cx="3474720" cy="25603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6126480" y="5522787"/>
            <a:ext cx="1600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2B42"/>
                </a:solidFill>
                <a:latin typeface="Calibri"/>
              </a:defRPr>
            </a:pPr>
            <a:r>
              <a:t>Atendimentos assistidos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498080" y="552278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8595B"/>
                </a:solidFill>
                <a:latin typeface="Calibri"/>
              </a:defRPr>
            </a:pPr>
            <a:r>
              <a:t>50 &gt; 400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641080" y="552278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0A651"/>
                </a:solidFill>
                <a:latin typeface="Calibri"/>
              </a:defRPr>
            </a:pPr>
            <a:r>
              <a:t>dobro/ano</a:t>
            </a:r>
          </a:p>
        </p:txBody>
      </p:sp>
    </p:spTree>
    <p:extLst>
      <p:ext uri="{BB962C8B-B14F-4D97-AF65-F5344CB8AC3E}">
        <p14:creationId xmlns:p14="http://schemas.microsoft.com/office/powerpoint/2010/main" val="2233027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5000"/>
            </a:avLst>
          </a:prstGeom>
          <a:solidFill>
            <a:srgbClr val="00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4DC88B"/>
                </a:solidFill>
                <a:latin typeface="Calibri"/>
              </a:defRPr>
            </a:pPr>
            <a:r>
              <a:t>Oeiras Viva Desporto  |  Abril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05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A651"/>
                </a:solidFill>
                <a:latin typeface="Calibri"/>
              </a:defRPr>
            </a:pPr>
            <a:r>
              <a:rPr dirty="0"/>
              <a:t>MILESTONE 3  |  </a:t>
            </a:r>
            <a:r>
              <a:rPr lang="pt-PT" dirty="0"/>
              <a:t>ANÁ</a:t>
            </a:r>
            <a:r>
              <a:rPr dirty="0"/>
              <a:t>LISE DE RISCO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B6F"/>
                </a:solidFill>
                <a:latin typeface="Calibri"/>
              </a:defRPr>
            </a:pPr>
            <a:r>
              <a:t>Analise de Risco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58595B"/>
                </a:solidFill>
                <a:latin typeface="Calibri"/>
              </a:defRPr>
            </a:pPr>
            <a:r>
              <a:rPr dirty="0" err="1"/>
              <a:t>Riscos</a:t>
            </a:r>
            <a:r>
              <a:rPr dirty="0"/>
              <a:t> </a:t>
            </a:r>
            <a:r>
              <a:rPr dirty="0" err="1"/>
              <a:t>identificados</a:t>
            </a:r>
            <a:r>
              <a:rPr dirty="0"/>
              <a:t> e </a:t>
            </a:r>
            <a:r>
              <a:rPr dirty="0" err="1"/>
              <a:t>estrat</a:t>
            </a:r>
            <a:r>
              <a:rPr lang="pt-PT" dirty="0"/>
              <a:t>é</a:t>
            </a:r>
            <a:r>
              <a:rPr dirty="0" err="1"/>
              <a:t>gias</a:t>
            </a:r>
            <a:r>
              <a:rPr dirty="0"/>
              <a:t> de </a:t>
            </a:r>
            <a:r>
              <a:rPr dirty="0" err="1"/>
              <a:t>mitiga</a:t>
            </a:r>
            <a:r>
              <a:rPr lang="pt-PT" dirty="0" err="1"/>
              <a:t>çã</a:t>
            </a:r>
            <a:r>
              <a:rPr dirty="0"/>
              <a:t>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2194560"/>
            <a:ext cx="594360" cy="320040"/>
          </a:xfrm>
          <a:prstGeom prst="roundRect">
            <a:avLst>
              <a:gd name="adj" fmla="val 5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7627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2B42"/>
                </a:solidFill>
                <a:latin typeface="Calibri"/>
              </a:defRPr>
            </a:pPr>
            <a:r>
              <a:rPr dirty="0"/>
              <a:t>Persist</a:t>
            </a:r>
            <a:r>
              <a:rPr lang="pt-PT" dirty="0"/>
              <a:t>ê</a:t>
            </a:r>
            <a:r>
              <a:rPr dirty="0" err="1"/>
              <a:t>ncia</a:t>
            </a:r>
            <a:r>
              <a:rPr dirty="0"/>
              <a:t> de </a:t>
            </a:r>
            <a:r>
              <a:rPr dirty="0" err="1"/>
              <a:t>desigualdades</a:t>
            </a:r>
            <a:r>
              <a:rPr dirty="0"/>
              <a:t> de </a:t>
            </a:r>
            <a:r>
              <a:rPr dirty="0" err="1"/>
              <a:t>acesso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166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Mitiga</a:t>
            </a:r>
            <a:r>
              <a:rPr lang="pt-PT" dirty="0" err="1"/>
              <a:t>çã</a:t>
            </a:r>
            <a:r>
              <a:rPr dirty="0"/>
              <a:t>o: </a:t>
            </a:r>
            <a:r>
              <a:rPr dirty="0" err="1"/>
              <a:t>Cotas</a:t>
            </a:r>
            <a:r>
              <a:rPr dirty="0"/>
              <a:t> </a:t>
            </a:r>
            <a:r>
              <a:rPr dirty="0" err="1"/>
              <a:t>priorit</a:t>
            </a:r>
            <a:r>
              <a:rPr lang="pt-PT" dirty="0"/>
              <a:t>á</a:t>
            </a:r>
            <a:r>
              <a:rPr dirty="0" err="1"/>
              <a:t>rias</a:t>
            </a:r>
            <a:r>
              <a:rPr dirty="0"/>
              <a:t> + </a:t>
            </a:r>
            <a:r>
              <a:rPr dirty="0" err="1"/>
              <a:t>apoio</a:t>
            </a:r>
            <a:r>
              <a:rPr dirty="0"/>
              <a:t> </a:t>
            </a:r>
            <a:r>
              <a:rPr dirty="0" err="1"/>
              <a:t>humano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hubs de </a:t>
            </a:r>
            <a:r>
              <a:rPr dirty="0" err="1"/>
              <a:t>proximidade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126480" y="201168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63640" y="2194560"/>
            <a:ext cx="594360" cy="320040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72362" y="2176272"/>
            <a:ext cx="9769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M</a:t>
            </a:r>
            <a:r>
              <a:rPr lang="pt-PT" dirty="0"/>
              <a:t>é</a:t>
            </a:r>
            <a:r>
              <a:rPr dirty="0" err="1"/>
              <a:t>dio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949440" y="217627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2B42"/>
                </a:solidFill>
                <a:latin typeface="Calibri"/>
              </a:defRPr>
            </a:pPr>
            <a:r>
              <a:rPr dirty="0" err="1"/>
              <a:t>Fragmenta</a:t>
            </a:r>
            <a:r>
              <a:rPr lang="pt-PT" dirty="0" err="1"/>
              <a:t>çã</a:t>
            </a:r>
            <a:r>
              <a:rPr dirty="0"/>
              <a:t>o da gest</a:t>
            </a:r>
            <a:r>
              <a:rPr lang="pt-PT" dirty="0"/>
              <a:t>ã</a:t>
            </a:r>
            <a:r>
              <a:rPr dirty="0"/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743200"/>
            <a:ext cx="5166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Mitiga</a:t>
            </a:r>
            <a:r>
              <a:rPr lang="pt-PT" dirty="0" err="1"/>
              <a:t>çã</a:t>
            </a:r>
            <a:r>
              <a:rPr dirty="0"/>
              <a:t>o: </a:t>
            </a:r>
            <a:r>
              <a:rPr dirty="0" err="1"/>
              <a:t>Coordena</a:t>
            </a:r>
            <a:r>
              <a:rPr lang="pt-PT" dirty="0" err="1"/>
              <a:t>çã</a:t>
            </a:r>
            <a:r>
              <a:rPr dirty="0"/>
              <a:t>o </a:t>
            </a:r>
            <a:r>
              <a:rPr dirty="0" err="1"/>
              <a:t>clara</a:t>
            </a:r>
            <a:r>
              <a:rPr dirty="0"/>
              <a:t> e </a:t>
            </a:r>
            <a:r>
              <a:rPr dirty="0" err="1"/>
              <a:t>centraliza</a:t>
            </a:r>
            <a:r>
              <a:rPr lang="pt-PT" dirty="0" err="1"/>
              <a:t>çã</a:t>
            </a:r>
            <a:r>
              <a:rPr dirty="0"/>
              <a:t>o de </a:t>
            </a:r>
            <a:r>
              <a:rPr dirty="0" err="1"/>
              <a:t>responsabilidade</a:t>
            </a:r>
            <a:r>
              <a:rPr dirty="0"/>
              <a:t> t</a:t>
            </a:r>
            <a:r>
              <a:rPr lang="pt-PT" dirty="0"/>
              <a:t>é</a:t>
            </a:r>
            <a:r>
              <a:rPr dirty="0" err="1"/>
              <a:t>cnica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4360" y="4206240"/>
            <a:ext cx="594360" cy="320040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68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M</a:t>
            </a:r>
            <a:r>
              <a:rPr lang="pt-PT" dirty="0"/>
              <a:t>é</a:t>
            </a:r>
            <a:r>
              <a:rPr dirty="0" err="1"/>
              <a:t>dio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1280160" y="4187952"/>
            <a:ext cx="438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2B42"/>
                </a:solidFill>
                <a:latin typeface="Calibri"/>
              </a:defRPr>
            </a:pPr>
            <a:r>
              <a:rPr dirty="0"/>
              <a:t>D</a:t>
            </a:r>
            <a:r>
              <a:rPr lang="pt-PT" dirty="0"/>
              <a:t>é</a:t>
            </a:r>
            <a:r>
              <a:rPr dirty="0" err="1"/>
              <a:t>fice</a:t>
            </a:r>
            <a:r>
              <a:rPr dirty="0"/>
              <a:t> de </a:t>
            </a:r>
            <a:r>
              <a:rPr dirty="0" err="1"/>
              <a:t>escalabilidade</a:t>
            </a:r>
            <a:r>
              <a:rPr dirty="0"/>
              <a:t> digital dos </a:t>
            </a:r>
            <a:r>
              <a:rPr dirty="0" err="1"/>
              <a:t>parceiros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594360" y="4754880"/>
            <a:ext cx="5166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Mitiga</a:t>
            </a:r>
            <a:r>
              <a:rPr lang="pt-PT" dirty="0" err="1"/>
              <a:t>çã</a:t>
            </a:r>
            <a:r>
              <a:rPr dirty="0"/>
              <a:t>o: </a:t>
            </a:r>
            <a:r>
              <a:rPr dirty="0" err="1"/>
              <a:t>Capacita</a:t>
            </a:r>
            <a:r>
              <a:rPr lang="pt-PT" dirty="0" err="1"/>
              <a:t>ção</a:t>
            </a:r>
            <a:r>
              <a:rPr dirty="0"/>
              <a:t> </a:t>
            </a:r>
            <a:r>
              <a:rPr dirty="0" err="1"/>
              <a:t>tecnica</a:t>
            </a:r>
            <a:r>
              <a:rPr dirty="0"/>
              <a:t> + </a:t>
            </a:r>
            <a:r>
              <a:rPr dirty="0" err="1"/>
              <a:t>financiamento</a:t>
            </a:r>
            <a:r>
              <a:rPr dirty="0"/>
              <a:t> municipal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02336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63640" y="4206240"/>
            <a:ext cx="594360" cy="320040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418795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Baixo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8795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2B42"/>
                </a:solidFill>
                <a:latin typeface="Calibri"/>
              </a:defRPr>
            </a:pPr>
            <a:r>
              <a:rPr dirty="0" err="1"/>
              <a:t>Inova</a:t>
            </a:r>
            <a:r>
              <a:rPr lang="pt-PT" dirty="0" err="1"/>
              <a:t>çã</a:t>
            </a:r>
            <a:r>
              <a:rPr dirty="0"/>
              <a:t>o </a:t>
            </a:r>
            <a:r>
              <a:rPr dirty="0" err="1"/>
              <a:t>tecnol</a:t>
            </a:r>
            <a:r>
              <a:rPr lang="pt-PT" dirty="0"/>
              <a:t>ó</a:t>
            </a:r>
            <a:r>
              <a:rPr dirty="0" err="1"/>
              <a:t>gica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ades</a:t>
            </a:r>
            <a:r>
              <a:rPr lang="pt-PT"/>
              <a:t>ã</a:t>
            </a:r>
            <a:r>
              <a:t>o </a:t>
            </a:r>
            <a:r>
              <a:rPr dirty="0"/>
              <a:t>social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754880"/>
            <a:ext cx="5166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3B6F"/>
                </a:solidFill>
                <a:latin typeface="Calibri"/>
              </a:defRPr>
            </a:pPr>
            <a:r>
              <a:rPr dirty="0" err="1"/>
              <a:t>Mitiga</a:t>
            </a:r>
            <a:r>
              <a:rPr lang="pt-PT" dirty="0" err="1"/>
              <a:t>ção</a:t>
            </a:r>
            <a:r>
              <a:rPr dirty="0"/>
              <a:t>: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omnicanal</a:t>
            </a:r>
            <a:r>
              <a:rPr dirty="0"/>
              <a:t>: App + </a:t>
            </a:r>
            <a:r>
              <a:rPr dirty="0" err="1"/>
              <a:t>balc</a:t>
            </a:r>
            <a:r>
              <a:rPr lang="pt-PT" dirty="0" err="1"/>
              <a:t>õe</a:t>
            </a:r>
            <a:r>
              <a:rPr dirty="0"/>
              <a:t>s + </a:t>
            </a:r>
            <a:r>
              <a:rPr dirty="0" err="1"/>
              <a:t>apoio</a:t>
            </a:r>
            <a:r>
              <a:rPr dirty="0"/>
              <a:t> </a:t>
            </a:r>
            <a:r>
              <a:rPr dirty="0" err="1"/>
              <a:t>presencial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64A"/>
            </a:gs>
            <a:gs pos="100000">
              <a:srgbClr val="003B6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00A651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0060A9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4DC88B"/>
                </a:solidFill>
                <a:latin typeface="Calibri"/>
              </a:defRPr>
            </a:pPr>
            <a:r>
              <a:rPr dirty="0"/>
              <a:t>OBRIGADO PELA ATEN</a:t>
            </a:r>
            <a:r>
              <a:rPr lang="pt-PT" dirty="0" err="1"/>
              <a:t>Çã</a:t>
            </a:r>
            <a:r>
              <a:rPr dirty="0"/>
              <a:t>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828800"/>
            <a:ext cx="1554480" cy="381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Oeiras Viva Desporto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Um ecossistema omnicanal para mover Oeiras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3657600"/>
            <a:ext cx="1554480" cy="381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402336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99AABB"/>
                </a:solidFill>
                <a:latin typeface="Calibri"/>
              </a:defRPr>
            </a:pPr>
            <a:r>
              <a:rPr dirty="0"/>
              <a:t>Mais do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digitalizar</a:t>
            </a:r>
            <a:r>
              <a:rPr dirty="0"/>
              <a:t>, integra</a:t>
            </a:r>
            <a:r>
              <a:rPr lang="pt-PT" dirty="0"/>
              <a:t>mos,</a:t>
            </a:r>
            <a:r>
              <a:rPr dirty="0"/>
              <a:t> </a:t>
            </a:r>
            <a:r>
              <a:rPr dirty="0" err="1"/>
              <a:t>inclu</a:t>
            </a:r>
            <a:r>
              <a:rPr lang="pt-PT" dirty="0" err="1"/>
              <a:t>ímos</a:t>
            </a:r>
            <a:r>
              <a:rPr dirty="0"/>
              <a:t> e </a:t>
            </a:r>
            <a:r>
              <a:rPr dirty="0" err="1"/>
              <a:t>escala</a:t>
            </a:r>
            <a:r>
              <a:rPr lang="pt-PT" dirty="0"/>
              <a:t>mos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828800" y="5303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67788"/>
                </a:solidFill>
                <a:latin typeface="Calibri"/>
              </a:defRPr>
            </a:pPr>
            <a:r>
              <a:rPr dirty="0"/>
              <a:t>Quest</a:t>
            </a:r>
            <a:r>
              <a:rPr lang="pt-PT" dirty="0"/>
              <a:t>õ</a:t>
            </a:r>
            <a:r>
              <a:rPr dirty="0" err="1"/>
              <a:t>es</a:t>
            </a:r>
            <a:r>
              <a:rPr dirty="0"/>
              <a:t> e Discuss</a:t>
            </a:r>
            <a:r>
              <a:rPr lang="pt-PT" dirty="0"/>
              <a:t>ã</a:t>
            </a:r>
            <a:r>
              <a:rPr dirty="0"/>
              <a:t>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1804</Words>
  <Application>Microsoft Office PowerPoint</Application>
  <PresentationFormat>Ecrã Panorâmico</PresentationFormat>
  <Paragraphs>296</Paragraphs>
  <Slides>12</Slides>
  <Notes>0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Lucia</dc:creator>
  <dc:description>generated using python-pptx</dc:description>
  <cp:lastModifiedBy>António Carlos Nascimento José Lopes Faustino</cp:lastModifiedBy>
  <cp:revision>9</cp:revision>
  <dcterms:created xsi:type="dcterms:W3CDTF">2013-01-27T09:14:16Z</dcterms:created>
  <dcterms:modified xsi:type="dcterms:W3CDTF">2026-04-19T05:36:31Z</dcterms:modified>
</cp:coreProperties>
</file>